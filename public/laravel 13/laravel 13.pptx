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Neo Tech" panose="020B0604020202020204" charset="0"/>
      <p:regular r:id="rId14"/>
    </p:embeddedFont>
    <p:embeddedFont>
      <p:font typeface="Neo Tech Bold" panose="020B0604020202020204" charset="0"/>
      <p:regular r:id="rId15"/>
    </p:embeddedFont>
    <p:embeddedFont>
      <p:font typeface="Neo Tech Light" panose="020B0604020202020204" charset="0"/>
      <p:regular r:id="rId16"/>
    </p:embeddedFont>
    <p:embeddedFont>
      <p:font typeface="Open Sa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7.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9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9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8" name="Freeform 8"/>
          <p:cNvSpPr/>
          <p:nvPr/>
        </p:nvSpPr>
        <p:spPr>
          <a:xfrm>
            <a:off x="1729946" y="1028700"/>
            <a:ext cx="14828108" cy="8229600"/>
          </a:xfrm>
          <a:custGeom>
            <a:avLst/>
            <a:gdLst/>
            <a:ahLst/>
            <a:cxnLst/>
            <a:rect l="l" t="t" r="r" b="b"/>
            <a:pathLst>
              <a:path w="14828108" h="8229600">
                <a:moveTo>
                  <a:pt x="0" y="0"/>
                </a:moveTo>
                <a:lnTo>
                  <a:pt x="14828108" y="0"/>
                </a:lnTo>
                <a:lnTo>
                  <a:pt x="14828108" y="8229600"/>
                </a:lnTo>
                <a:lnTo>
                  <a:pt x="0" y="82296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a:off x="-471355" y="7684325"/>
            <a:ext cx="3731115" cy="2957757"/>
          </a:xfrm>
          <a:custGeom>
            <a:avLst/>
            <a:gdLst/>
            <a:ahLst/>
            <a:cxnLst/>
            <a:rect l="l" t="t" r="r" b="b"/>
            <a:pathLst>
              <a:path w="3731115" h="2957757">
                <a:moveTo>
                  <a:pt x="0" y="0"/>
                </a:moveTo>
                <a:lnTo>
                  <a:pt x="3731115" y="0"/>
                </a:lnTo>
                <a:lnTo>
                  <a:pt x="3731115" y="2957757"/>
                </a:lnTo>
                <a:lnTo>
                  <a:pt x="0" y="295775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0" name="Freeform 10"/>
          <p:cNvSpPr/>
          <p:nvPr/>
        </p:nvSpPr>
        <p:spPr>
          <a:xfrm flipH="1">
            <a:off x="15604847" y="-832180"/>
            <a:ext cx="3396344" cy="2692375"/>
          </a:xfrm>
          <a:custGeom>
            <a:avLst/>
            <a:gdLst/>
            <a:ahLst/>
            <a:cxnLst/>
            <a:rect l="l" t="t" r="r" b="b"/>
            <a:pathLst>
              <a:path w="3396344" h="2692375">
                <a:moveTo>
                  <a:pt x="3396345" y="0"/>
                </a:moveTo>
                <a:lnTo>
                  <a:pt x="0" y="0"/>
                </a:lnTo>
                <a:lnTo>
                  <a:pt x="0" y="2692375"/>
                </a:lnTo>
                <a:lnTo>
                  <a:pt x="3396345" y="2692375"/>
                </a:lnTo>
                <a:lnTo>
                  <a:pt x="3396345"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a:off x="3259760" y="6378821"/>
            <a:ext cx="2242799" cy="1529181"/>
          </a:xfrm>
          <a:custGeom>
            <a:avLst/>
            <a:gdLst/>
            <a:ahLst/>
            <a:cxnLst/>
            <a:rect l="l" t="t" r="r" b="b"/>
            <a:pathLst>
              <a:path w="2242799" h="1529181">
                <a:moveTo>
                  <a:pt x="0" y="0"/>
                </a:moveTo>
                <a:lnTo>
                  <a:pt x="2242799" y="0"/>
                </a:lnTo>
                <a:lnTo>
                  <a:pt x="2242799" y="1529181"/>
                </a:lnTo>
                <a:lnTo>
                  <a:pt x="0" y="152918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2" name="Freeform 12"/>
          <p:cNvSpPr/>
          <p:nvPr/>
        </p:nvSpPr>
        <p:spPr>
          <a:xfrm>
            <a:off x="12781048" y="6378821"/>
            <a:ext cx="2242799" cy="1529181"/>
          </a:xfrm>
          <a:custGeom>
            <a:avLst/>
            <a:gdLst/>
            <a:ahLst/>
            <a:cxnLst/>
            <a:rect l="l" t="t" r="r" b="b"/>
            <a:pathLst>
              <a:path w="2242799" h="1529181">
                <a:moveTo>
                  <a:pt x="0" y="0"/>
                </a:moveTo>
                <a:lnTo>
                  <a:pt x="2242800" y="0"/>
                </a:lnTo>
                <a:lnTo>
                  <a:pt x="2242800" y="1529181"/>
                </a:lnTo>
                <a:lnTo>
                  <a:pt x="0" y="152918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1729946" y="3638830"/>
            <a:ext cx="14828108" cy="2454275"/>
          </a:xfrm>
          <a:prstGeom prst="rect">
            <a:avLst/>
          </a:prstGeom>
        </p:spPr>
        <p:txBody>
          <a:bodyPr lIns="0" tIns="0" rIns="0" bIns="0" rtlCol="0" anchor="t">
            <a:spAutoFit/>
          </a:bodyPr>
          <a:lstStyle/>
          <a:p>
            <a:pPr algn="ctr">
              <a:lnSpc>
                <a:spcPts val="4900"/>
              </a:lnSpc>
              <a:spcBef>
                <a:spcPct val="0"/>
              </a:spcBef>
            </a:pPr>
            <a:r>
              <a:rPr lang="en-US" sz="3500" b="1">
                <a:solidFill>
                  <a:srgbClr val="FFFFFF"/>
                </a:solidFill>
                <a:latin typeface="Open Sans Bold"/>
                <a:ea typeface="Open Sans Bold"/>
                <a:cs typeface="Open Sans Bold"/>
                <a:sym typeface="Open Sans Bold"/>
              </a:rPr>
              <a:t>Judul Project : PakPutra_laravel </a:t>
            </a:r>
          </a:p>
          <a:p>
            <a:pPr algn="ctr">
              <a:lnSpc>
                <a:spcPts val="4900"/>
              </a:lnSpc>
              <a:spcBef>
                <a:spcPct val="0"/>
              </a:spcBef>
            </a:pPr>
            <a:r>
              <a:rPr lang="en-US" sz="3500" b="1">
                <a:solidFill>
                  <a:srgbClr val="FFFFFF"/>
                </a:solidFill>
                <a:latin typeface="Open Sans Bold"/>
                <a:ea typeface="Open Sans Bold"/>
                <a:cs typeface="Open Sans Bold"/>
                <a:sym typeface="Open Sans Bold"/>
              </a:rPr>
              <a:t>Nama Lengkap : Muhamad Hafiz Mukti Wibowo</a:t>
            </a:r>
          </a:p>
          <a:p>
            <a:pPr algn="ctr">
              <a:lnSpc>
                <a:spcPts val="4900"/>
              </a:lnSpc>
              <a:spcBef>
                <a:spcPct val="0"/>
              </a:spcBef>
            </a:pPr>
            <a:r>
              <a:rPr lang="en-US" sz="3500" b="1">
                <a:solidFill>
                  <a:srgbClr val="FFFFFF"/>
                </a:solidFill>
                <a:latin typeface="Open Sans Bold"/>
                <a:ea typeface="Open Sans Bold"/>
                <a:cs typeface="Open Sans Bold"/>
                <a:sym typeface="Open Sans Bold"/>
              </a:rPr>
              <a:t>Kelas : XI - RPL</a:t>
            </a:r>
          </a:p>
          <a:p>
            <a:pPr algn="ctr">
              <a:lnSpc>
                <a:spcPts val="4900"/>
              </a:lnSpc>
              <a:spcBef>
                <a:spcPct val="0"/>
              </a:spcBef>
            </a:pPr>
            <a:r>
              <a:rPr lang="en-US" sz="3500" b="1">
                <a:solidFill>
                  <a:srgbClr val="FFFFFF"/>
                </a:solidFill>
                <a:latin typeface="Open Sans Bold"/>
                <a:ea typeface="Open Sans Bold"/>
                <a:cs typeface="Open Sans Bold"/>
                <a:sym typeface="Open Sans Bold"/>
              </a:rPr>
              <a:t>Absen : 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TextBox 2"/>
          <p:cNvSpPr txBox="1"/>
          <p:nvPr/>
        </p:nvSpPr>
        <p:spPr>
          <a:xfrm>
            <a:off x="4639167" y="1474723"/>
            <a:ext cx="7913519" cy="1216025"/>
          </a:xfrm>
          <a:prstGeom prst="rect">
            <a:avLst/>
          </a:prstGeom>
        </p:spPr>
        <p:txBody>
          <a:bodyPr lIns="0" tIns="0" rIns="0" bIns="0" rtlCol="0" anchor="t">
            <a:spAutoFit/>
          </a:bodyPr>
          <a:lstStyle/>
          <a:p>
            <a:pPr algn="ctr">
              <a:lnSpc>
                <a:spcPts val="4900"/>
              </a:lnSpc>
            </a:pPr>
            <a:r>
              <a:rPr lang="en-US" sz="3500" b="1">
                <a:solidFill>
                  <a:srgbClr val="FFFFFF"/>
                </a:solidFill>
                <a:latin typeface="Open Sans Bold"/>
                <a:ea typeface="Open Sans Bold"/>
                <a:cs typeface="Open Sans Bold"/>
                <a:sym typeface="Open Sans Bold"/>
              </a:rPr>
              <a:t>Nama Aplikasi :</a:t>
            </a:r>
          </a:p>
          <a:p>
            <a:pPr algn="ctr">
              <a:lnSpc>
                <a:spcPts val="4900"/>
              </a:lnSpc>
            </a:pPr>
            <a:r>
              <a:rPr lang="en-US" sz="3500" b="1">
                <a:solidFill>
                  <a:srgbClr val="FFFFFF"/>
                </a:solidFill>
                <a:latin typeface="Open Sans Bold"/>
                <a:ea typeface="Open Sans Bold"/>
                <a:cs typeface="Open Sans Bold"/>
                <a:sym typeface="Open Sans Bold"/>
              </a:rPr>
              <a:t> Absensi Siswa </a:t>
            </a:r>
          </a:p>
        </p:txBody>
      </p:sp>
      <p:sp>
        <p:nvSpPr>
          <p:cNvPr id="3" name="TextBox 3"/>
          <p:cNvSpPr txBox="1"/>
          <p:nvPr/>
        </p:nvSpPr>
        <p:spPr>
          <a:xfrm>
            <a:off x="749503" y="3452748"/>
            <a:ext cx="15692848" cy="2442425"/>
          </a:xfrm>
          <a:prstGeom prst="rect">
            <a:avLst/>
          </a:prstGeom>
        </p:spPr>
        <p:txBody>
          <a:bodyPr lIns="0" tIns="0" rIns="0" bIns="0" rtlCol="0" anchor="t">
            <a:spAutoFit/>
          </a:bodyPr>
          <a:lstStyle/>
          <a:p>
            <a:pPr algn="ctr">
              <a:lnSpc>
                <a:spcPts val="4895"/>
              </a:lnSpc>
            </a:pPr>
            <a:r>
              <a:rPr lang="en-US" sz="3496" b="1">
                <a:solidFill>
                  <a:srgbClr val="FFFFFF"/>
                </a:solidFill>
                <a:latin typeface="Open Sans Bold"/>
                <a:ea typeface="Open Sans Bold"/>
                <a:cs typeface="Open Sans Bold"/>
                <a:sym typeface="Open Sans Bold"/>
              </a:rPr>
              <a:t>Fungsi aplikasi : </a:t>
            </a:r>
          </a:p>
          <a:p>
            <a:pPr algn="ctr">
              <a:lnSpc>
                <a:spcPts val="4895"/>
              </a:lnSpc>
            </a:pPr>
            <a:r>
              <a:rPr lang="en-US" sz="3496" b="1">
                <a:solidFill>
                  <a:srgbClr val="FFFFFF"/>
                </a:solidFill>
                <a:latin typeface="Open Sans Bold"/>
                <a:ea typeface="Open Sans Bold"/>
                <a:cs typeface="Open Sans Bold"/>
                <a:sym typeface="Open Sans Bold"/>
              </a:rPr>
              <a:t>Guru atau staf tata usaha dapat menginput data kehadiran siswa (Hadir, Sakit, Izin, Alfa) secara langsung di kelas melalui perangkat laptop atau komputer.</a:t>
            </a:r>
          </a:p>
        </p:txBody>
      </p:sp>
      <p:sp>
        <p:nvSpPr>
          <p:cNvPr id="4" name="TextBox 4"/>
          <p:cNvSpPr txBox="1"/>
          <p:nvPr/>
        </p:nvSpPr>
        <p:spPr>
          <a:xfrm>
            <a:off x="749503" y="6638606"/>
            <a:ext cx="16052084" cy="2454275"/>
          </a:xfrm>
          <a:prstGeom prst="rect">
            <a:avLst/>
          </a:prstGeom>
        </p:spPr>
        <p:txBody>
          <a:bodyPr lIns="0" tIns="0" rIns="0" bIns="0" rtlCol="0" anchor="t">
            <a:spAutoFit/>
          </a:bodyPr>
          <a:lstStyle/>
          <a:p>
            <a:pPr algn="ctr">
              <a:lnSpc>
                <a:spcPts val="4900"/>
              </a:lnSpc>
            </a:pPr>
            <a:r>
              <a:rPr lang="en-US" sz="3500" b="1">
                <a:solidFill>
                  <a:srgbClr val="FFFFFF"/>
                </a:solidFill>
                <a:latin typeface="Open Sans Bold"/>
                <a:ea typeface="Open Sans Bold"/>
                <a:cs typeface="Open Sans Bold"/>
                <a:sym typeface="Open Sans Bold"/>
              </a:rPr>
              <a:t>Target pengguna : </a:t>
            </a:r>
          </a:p>
          <a:p>
            <a:pPr algn="ctr">
              <a:lnSpc>
                <a:spcPts val="4900"/>
              </a:lnSpc>
            </a:pPr>
            <a:r>
              <a:rPr lang="en-US" sz="3500" b="1">
                <a:solidFill>
                  <a:srgbClr val="FFFFFF"/>
                </a:solidFill>
                <a:latin typeface="Open Sans Bold"/>
                <a:ea typeface="Open Sans Bold"/>
                <a:cs typeface="Open Sans Bold"/>
                <a:sym typeface="Open Sans Bold"/>
              </a:rPr>
              <a:t>Melakukan absensi harian secara cepat di dalam kelas melalui perangkat digital tanpa repot membawa buku absen kertas, serta melihat siapa saja siswa yang sering tidak hadir (Alfa/Sakit/Izin).</a:t>
            </a:r>
          </a:p>
        </p:txBody>
      </p:sp>
      <p:sp>
        <p:nvSpPr>
          <p:cNvPr id="5" name="Freeform 5"/>
          <p:cNvSpPr/>
          <p:nvPr/>
        </p:nvSpPr>
        <p:spPr>
          <a:xfrm flipH="1">
            <a:off x="11539311" y="480458"/>
            <a:ext cx="3507719" cy="242352"/>
          </a:xfrm>
          <a:custGeom>
            <a:avLst/>
            <a:gdLst/>
            <a:ahLst/>
            <a:cxnLst/>
            <a:rect l="l" t="t" r="r" b="b"/>
            <a:pathLst>
              <a:path w="3507719" h="242352">
                <a:moveTo>
                  <a:pt x="3507720" y="0"/>
                </a:moveTo>
                <a:lnTo>
                  <a:pt x="0" y="0"/>
                </a:lnTo>
                <a:lnTo>
                  <a:pt x="0" y="242352"/>
                </a:lnTo>
                <a:lnTo>
                  <a:pt x="3507720" y="242352"/>
                </a:lnTo>
                <a:lnTo>
                  <a:pt x="350772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6248014" y="223809"/>
            <a:ext cx="4695825" cy="679450"/>
          </a:xfrm>
          <a:prstGeom prst="rect">
            <a:avLst/>
          </a:prstGeom>
        </p:spPr>
        <p:txBody>
          <a:bodyPr lIns="0" tIns="0" rIns="0" bIns="0" rtlCol="0" anchor="t">
            <a:spAutoFit/>
          </a:bodyPr>
          <a:lstStyle/>
          <a:p>
            <a:pPr algn="ctr">
              <a:lnSpc>
                <a:spcPts val="5599"/>
              </a:lnSpc>
            </a:pPr>
            <a:r>
              <a:rPr lang="en-US" sz="3999" b="1">
                <a:solidFill>
                  <a:srgbClr val="FFFFFF"/>
                </a:solidFill>
                <a:latin typeface="Open Sans Bold"/>
                <a:ea typeface="Open Sans Bold"/>
                <a:cs typeface="Open Sans Bold"/>
                <a:sym typeface="Open Sans Bold"/>
              </a:rPr>
              <a:t>Penjelasan Project</a:t>
            </a:r>
          </a:p>
        </p:txBody>
      </p:sp>
      <p:sp>
        <p:nvSpPr>
          <p:cNvPr id="7" name="Freeform 7"/>
          <p:cNvSpPr/>
          <p:nvPr/>
        </p:nvSpPr>
        <p:spPr>
          <a:xfrm>
            <a:off x="2140220" y="480458"/>
            <a:ext cx="3507719" cy="242352"/>
          </a:xfrm>
          <a:custGeom>
            <a:avLst/>
            <a:gdLst/>
            <a:ahLst/>
            <a:cxnLst/>
            <a:rect l="l" t="t" r="r" b="b"/>
            <a:pathLst>
              <a:path w="3507719" h="242352">
                <a:moveTo>
                  <a:pt x="0" y="0"/>
                </a:moveTo>
                <a:lnTo>
                  <a:pt x="3507719" y="0"/>
                </a:lnTo>
                <a:lnTo>
                  <a:pt x="3507719" y="242352"/>
                </a:lnTo>
                <a:lnTo>
                  <a:pt x="0" y="242352"/>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grpSp>
        <p:nvGrpSpPr>
          <p:cNvPr id="8" name="Group 8"/>
          <p:cNvGrpSpPr/>
          <p:nvPr/>
        </p:nvGrpSpPr>
        <p:grpSpPr>
          <a:xfrm>
            <a:off x="829596" y="1685925"/>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id="10" name="TextBox 10"/>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934082" y="235836"/>
            <a:ext cx="10349757" cy="869064"/>
          </a:xfrm>
          <a:custGeom>
            <a:avLst/>
            <a:gdLst/>
            <a:ahLst/>
            <a:cxnLst/>
            <a:rect l="l" t="t" r="r" b="b"/>
            <a:pathLst>
              <a:path w="10349757" h="869064">
                <a:moveTo>
                  <a:pt x="0" y="0"/>
                </a:moveTo>
                <a:lnTo>
                  <a:pt x="10349757" y="0"/>
                </a:lnTo>
                <a:lnTo>
                  <a:pt x="10349757" y="869064"/>
                </a:lnTo>
                <a:lnTo>
                  <a:pt x="0" y="86906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flipH="1">
            <a:off x="14493835" y="2508735"/>
            <a:ext cx="2765465" cy="191068"/>
          </a:xfrm>
          <a:custGeom>
            <a:avLst/>
            <a:gdLst/>
            <a:ahLst/>
            <a:cxnLst/>
            <a:rect l="l" t="t" r="r" b="b"/>
            <a:pathLst>
              <a:path w="2765465" h="191068">
                <a:moveTo>
                  <a:pt x="2765465" y="0"/>
                </a:moveTo>
                <a:lnTo>
                  <a:pt x="0" y="0"/>
                </a:lnTo>
                <a:lnTo>
                  <a:pt x="0" y="191069"/>
                </a:lnTo>
                <a:lnTo>
                  <a:pt x="2765465" y="191069"/>
                </a:lnTo>
                <a:lnTo>
                  <a:pt x="2765465"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Freeform 13"/>
          <p:cNvSpPr/>
          <p:nvPr/>
        </p:nvSpPr>
        <p:spPr>
          <a:xfrm>
            <a:off x="1029323" y="2508735"/>
            <a:ext cx="2765465" cy="191068"/>
          </a:xfrm>
          <a:custGeom>
            <a:avLst/>
            <a:gdLst/>
            <a:ahLst/>
            <a:cxnLst/>
            <a:rect l="l" t="t" r="r" b="b"/>
            <a:pathLst>
              <a:path w="2765465" h="191068">
                <a:moveTo>
                  <a:pt x="0" y="0"/>
                </a:moveTo>
                <a:lnTo>
                  <a:pt x="2765465" y="0"/>
                </a:lnTo>
                <a:lnTo>
                  <a:pt x="2765465" y="191069"/>
                </a:lnTo>
                <a:lnTo>
                  <a:pt x="0" y="19106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4" name="Group 14"/>
          <p:cNvGrpSpPr/>
          <p:nvPr/>
        </p:nvGrpSpPr>
        <p:grpSpPr>
          <a:xfrm>
            <a:off x="1372580" y="3309404"/>
            <a:ext cx="4224941" cy="682683"/>
            <a:chOff x="0" y="0"/>
            <a:chExt cx="1197986" cy="193575"/>
          </a:xfrm>
        </p:grpSpPr>
        <p:sp>
          <p:nvSpPr>
            <p:cNvPr id="15" name="Freeform 15"/>
            <p:cNvSpPr/>
            <p:nvPr/>
          </p:nvSpPr>
          <p:spPr>
            <a:xfrm>
              <a:off x="0" y="0"/>
              <a:ext cx="1197986" cy="193575"/>
            </a:xfrm>
            <a:custGeom>
              <a:avLst/>
              <a:gdLst/>
              <a:ahLst/>
              <a:cxnLst/>
              <a:rect l="l" t="t" r="r" b="b"/>
              <a:pathLst>
                <a:path w="1197986" h="193575">
                  <a:moveTo>
                    <a:pt x="0" y="0"/>
                  </a:moveTo>
                  <a:lnTo>
                    <a:pt x="1197986" y="0"/>
                  </a:lnTo>
                  <a:lnTo>
                    <a:pt x="1197986" y="193575"/>
                  </a:lnTo>
                  <a:lnTo>
                    <a:pt x="0" y="193575"/>
                  </a:lnTo>
                  <a:close/>
                </a:path>
              </a:pathLst>
            </a:custGeom>
            <a:solidFill>
              <a:srgbClr val="1660D6"/>
            </a:solidFill>
          </p:spPr>
        </p:sp>
        <p:sp>
          <p:nvSpPr>
            <p:cNvPr id="16" name="TextBox 16"/>
            <p:cNvSpPr txBox="1"/>
            <p:nvPr/>
          </p:nvSpPr>
          <p:spPr>
            <a:xfrm>
              <a:off x="0" y="-38100"/>
              <a:ext cx="1197986" cy="231675"/>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372580" y="5619750"/>
            <a:ext cx="3328555" cy="710242"/>
            <a:chOff x="0" y="0"/>
            <a:chExt cx="943815" cy="201390"/>
          </a:xfrm>
        </p:grpSpPr>
        <p:sp>
          <p:nvSpPr>
            <p:cNvPr id="18" name="Freeform 18"/>
            <p:cNvSpPr/>
            <p:nvPr/>
          </p:nvSpPr>
          <p:spPr>
            <a:xfrm>
              <a:off x="0" y="0"/>
              <a:ext cx="943815" cy="201390"/>
            </a:xfrm>
            <a:custGeom>
              <a:avLst/>
              <a:gdLst/>
              <a:ahLst/>
              <a:cxnLst/>
              <a:rect l="l" t="t" r="r" b="b"/>
              <a:pathLst>
                <a:path w="943815" h="201390">
                  <a:moveTo>
                    <a:pt x="0" y="0"/>
                  </a:moveTo>
                  <a:lnTo>
                    <a:pt x="943815" y="0"/>
                  </a:lnTo>
                  <a:lnTo>
                    <a:pt x="943815" y="201390"/>
                  </a:lnTo>
                  <a:lnTo>
                    <a:pt x="0" y="201390"/>
                  </a:lnTo>
                  <a:close/>
                </a:path>
              </a:pathLst>
            </a:custGeom>
            <a:solidFill>
              <a:srgbClr val="1660D6"/>
            </a:solidFill>
          </p:spPr>
        </p:sp>
        <p:sp>
          <p:nvSpPr>
            <p:cNvPr id="19" name="TextBox 19"/>
            <p:cNvSpPr txBox="1"/>
            <p:nvPr/>
          </p:nvSpPr>
          <p:spPr>
            <a:xfrm>
              <a:off x="0" y="-38100"/>
              <a:ext cx="943815" cy="23949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376105" y="4463935"/>
            <a:ext cx="1221487" cy="689090"/>
            <a:chOff x="0" y="0"/>
            <a:chExt cx="346354" cy="195392"/>
          </a:xfrm>
        </p:grpSpPr>
        <p:sp>
          <p:nvSpPr>
            <p:cNvPr id="21" name="Freeform 21"/>
            <p:cNvSpPr/>
            <p:nvPr/>
          </p:nvSpPr>
          <p:spPr>
            <a:xfrm>
              <a:off x="0" y="0"/>
              <a:ext cx="346354" cy="195392"/>
            </a:xfrm>
            <a:custGeom>
              <a:avLst/>
              <a:gdLst/>
              <a:ahLst/>
              <a:cxnLst/>
              <a:rect l="l" t="t" r="r" b="b"/>
              <a:pathLst>
                <a:path w="346354" h="195392">
                  <a:moveTo>
                    <a:pt x="0" y="0"/>
                  </a:moveTo>
                  <a:lnTo>
                    <a:pt x="346354" y="0"/>
                  </a:lnTo>
                  <a:lnTo>
                    <a:pt x="346354" y="195392"/>
                  </a:lnTo>
                  <a:lnTo>
                    <a:pt x="0" y="195392"/>
                  </a:lnTo>
                  <a:close/>
                </a:path>
              </a:pathLst>
            </a:custGeom>
            <a:solidFill>
              <a:srgbClr val="EE8561"/>
            </a:solidFill>
          </p:spPr>
        </p:sp>
        <p:sp>
          <p:nvSpPr>
            <p:cNvPr id="22" name="TextBox 22"/>
            <p:cNvSpPr txBox="1"/>
            <p:nvPr/>
          </p:nvSpPr>
          <p:spPr>
            <a:xfrm>
              <a:off x="0" y="-38100"/>
              <a:ext cx="346354" cy="233492"/>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376105" y="6806242"/>
            <a:ext cx="1761662" cy="734154"/>
            <a:chOff x="0" y="0"/>
            <a:chExt cx="499521" cy="208170"/>
          </a:xfrm>
        </p:grpSpPr>
        <p:sp>
          <p:nvSpPr>
            <p:cNvPr id="24" name="Freeform 24"/>
            <p:cNvSpPr/>
            <p:nvPr/>
          </p:nvSpPr>
          <p:spPr>
            <a:xfrm>
              <a:off x="0" y="0"/>
              <a:ext cx="499521" cy="208170"/>
            </a:xfrm>
            <a:custGeom>
              <a:avLst/>
              <a:gdLst/>
              <a:ahLst/>
              <a:cxnLst/>
              <a:rect l="l" t="t" r="r" b="b"/>
              <a:pathLst>
                <a:path w="499521" h="208170">
                  <a:moveTo>
                    <a:pt x="0" y="0"/>
                  </a:moveTo>
                  <a:lnTo>
                    <a:pt x="499521" y="0"/>
                  </a:lnTo>
                  <a:lnTo>
                    <a:pt x="499521" y="208170"/>
                  </a:lnTo>
                  <a:lnTo>
                    <a:pt x="0" y="208170"/>
                  </a:lnTo>
                  <a:close/>
                </a:path>
              </a:pathLst>
            </a:custGeom>
            <a:solidFill>
              <a:srgbClr val="EE8561"/>
            </a:solidFill>
          </p:spPr>
        </p:sp>
        <p:sp>
          <p:nvSpPr>
            <p:cNvPr id="25" name="TextBox 25"/>
            <p:cNvSpPr txBox="1"/>
            <p:nvPr/>
          </p:nvSpPr>
          <p:spPr>
            <a:xfrm>
              <a:off x="0" y="-38100"/>
              <a:ext cx="499521" cy="24627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6973825" y="1520343"/>
            <a:ext cx="4340349" cy="849707"/>
          </a:xfrm>
          <a:prstGeom prst="rect">
            <a:avLst/>
          </a:prstGeom>
        </p:spPr>
        <p:txBody>
          <a:bodyPr lIns="0" tIns="0" rIns="0" bIns="0" rtlCol="0" anchor="t">
            <a:spAutoFit/>
          </a:bodyPr>
          <a:lstStyle/>
          <a:p>
            <a:pPr algn="ctr">
              <a:lnSpc>
                <a:spcPts val="6073"/>
              </a:lnSpc>
            </a:pPr>
            <a:r>
              <a:rPr lang="en-US" sz="4745" b="1">
                <a:solidFill>
                  <a:srgbClr val="90F8FF"/>
                </a:solidFill>
                <a:latin typeface="Neo Tech Bold"/>
                <a:ea typeface="Neo Tech Bold"/>
                <a:cs typeface="Neo Tech Bold"/>
                <a:sym typeface="Neo Tech Bold"/>
              </a:rPr>
              <a:t>FITUR PROJECT</a:t>
            </a:r>
          </a:p>
        </p:txBody>
      </p:sp>
      <p:sp>
        <p:nvSpPr>
          <p:cNvPr id="27" name="TextBox 27"/>
          <p:cNvSpPr txBox="1"/>
          <p:nvPr/>
        </p:nvSpPr>
        <p:spPr>
          <a:xfrm>
            <a:off x="1936490" y="3413835"/>
            <a:ext cx="3097121" cy="527146"/>
          </a:xfrm>
          <a:prstGeom prst="rect">
            <a:avLst/>
          </a:prstGeom>
        </p:spPr>
        <p:txBody>
          <a:bodyPr lIns="0" tIns="0" rIns="0" bIns="0" rtlCol="0" anchor="t">
            <a:spAutoFit/>
          </a:bodyPr>
          <a:lstStyle/>
          <a:p>
            <a:pPr algn="ctr">
              <a:lnSpc>
                <a:spcPts val="3756"/>
              </a:lnSpc>
            </a:pPr>
            <a:r>
              <a:rPr lang="en-US" sz="2934" b="1">
                <a:solidFill>
                  <a:srgbClr val="FFFFFF"/>
                </a:solidFill>
                <a:latin typeface="Neo Tech Bold"/>
                <a:ea typeface="Neo Tech Bold"/>
                <a:cs typeface="Neo Tech Bold"/>
                <a:sym typeface="Neo Tech Bold"/>
              </a:rPr>
              <a:t>CRUD Data Siswa</a:t>
            </a:r>
          </a:p>
        </p:txBody>
      </p:sp>
      <p:sp>
        <p:nvSpPr>
          <p:cNvPr id="28" name="TextBox 28"/>
          <p:cNvSpPr txBox="1"/>
          <p:nvPr/>
        </p:nvSpPr>
        <p:spPr>
          <a:xfrm>
            <a:off x="1686426" y="5720823"/>
            <a:ext cx="2662995" cy="527146"/>
          </a:xfrm>
          <a:prstGeom prst="rect">
            <a:avLst/>
          </a:prstGeom>
        </p:spPr>
        <p:txBody>
          <a:bodyPr lIns="0" tIns="0" rIns="0" bIns="0" rtlCol="0" anchor="t">
            <a:spAutoFit/>
          </a:bodyPr>
          <a:lstStyle/>
          <a:p>
            <a:pPr algn="ctr">
              <a:lnSpc>
                <a:spcPts val="3756"/>
              </a:lnSpc>
            </a:pPr>
            <a:r>
              <a:rPr lang="en-US" sz="2934" b="1">
                <a:solidFill>
                  <a:srgbClr val="FFFFFF"/>
                </a:solidFill>
                <a:latin typeface="Neo Tech Bold"/>
                <a:ea typeface="Neo Tech Bold"/>
                <a:cs typeface="Neo Tech Bold"/>
                <a:sym typeface="Neo Tech Bold"/>
              </a:rPr>
              <a:t>Authentication</a:t>
            </a:r>
          </a:p>
        </p:txBody>
      </p:sp>
      <p:sp>
        <p:nvSpPr>
          <p:cNvPr id="29" name="TextBox 29"/>
          <p:cNvSpPr txBox="1"/>
          <p:nvPr/>
        </p:nvSpPr>
        <p:spPr>
          <a:xfrm>
            <a:off x="1629814" y="4515961"/>
            <a:ext cx="714069" cy="444865"/>
          </a:xfrm>
          <a:prstGeom prst="rect">
            <a:avLst/>
          </a:prstGeom>
        </p:spPr>
        <p:txBody>
          <a:bodyPr lIns="0" tIns="0" rIns="0" bIns="0" rtlCol="0" anchor="t">
            <a:spAutoFit/>
          </a:bodyPr>
          <a:lstStyle/>
          <a:p>
            <a:pPr algn="ctr">
              <a:lnSpc>
                <a:spcPts val="3756"/>
              </a:lnSpc>
            </a:pPr>
            <a:r>
              <a:rPr lang="en-US" sz="2934" b="1" dirty="0">
                <a:solidFill>
                  <a:srgbClr val="FFFFFF"/>
                </a:solidFill>
                <a:latin typeface="Neo Tech Bold"/>
                <a:ea typeface="Neo Tech Bold"/>
                <a:cs typeface="Neo Tech Bold"/>
                <a:sym typeface="Neo Tech Bold"/>
              </a:rPr>
              <a:t>API</a:t>
            </a:r>
          </a:p>
        </p:txBody>
      </p:sp>
      <p:sp>
        <p:nvSpPr>
          <p:cNvPr id="30" name="TextBox 30"/>
          <p:cNvSpPr txBox="1"/>
          <p:nvPr/>
        </p:nvSpPr>
        <p:spPr>
          <a:xfrm>
            <a:off x="1686426" y="6866884"/>
            <a:ext cx="1148563" cy="527146"/>
          </a:xfrm>
          <a:prstGeom prst="rect">
            <a:avLst/>
          </a:prstGeom>
        </p:spPr>
        <p:txBody>
          <a:bodyPr lIns="0" tIns="0" rIns="0" bIns="0" rtlCol="0" anchor="t">
            <a:spAutoFit/>
          </a:bodyPr>
          <a:lstStyle/>
          <a:p>
            <a:pPr algn="ctr">
              <a:lnSpc>
                <a:spcPts val="3756"/>
              </a:lnSpc>
            </a:pPr>
            <a:r>
              <a:rPr lang="en-US" sz="2934" b="1">
                <a:solidFill>
                  <a:srgbClr val="FFFFFF"/>
                </a:solidFill>
                <a:latin typeface="Neo Tech Bold"/>
                <a:ea typeface="Neo Tech Bold"/>
                <a:cs typeface="Neo Tech Bold"/>
                <a:sym typeface="Neo Tech Bold"/>
              </a:rPr>
              <a:t>Queue</a:t>
            </a:r>
          </a:p>
        </p:txBody>
      </p:sp>
      <p:sp>
        <p:nvSpPr>
          <p:cNvPr id="31" name="TextBox 31"/>
          <p:cNvSpPr txBox="1"/>
          <p:nvPr/>
        </p:nvSpPr>
        <p:spPr>
          <a:xfrm>
            <a:off x="6126077" y="3173408"/>
            <a:ext cx="12161923" cy="965118"/>
          </a:xfrm>
          <a:prstGeom prst="rect">
            <a:avLst/>
          </a:prstGeom>
        </p:spPr>
        <p:txBody>
          <a:bodyPr lIns="0" tIns="0" rIns="0" bIns="0" rtlCol="0" anchor="t">
            <a:spAutoFit/>
          </a:bodyPr>
          <a:lstStyle/>
          <a:p>
            <a:pPr algn="l">
              <a:lnSpc>
                <a:spcPts val="3769"/>
              </a:lnSpc>
            </a:pPr>
            <a:r>
              <a:rPr lang="en-US" sz="2204" spc="24">
                <a:solidFill>
                  <a:srgbClr val="FFFFFF"/>
                </a:solidFill>
                <a:latin typeface="Neo Tech"/>
                <a:ea typeface="Neo Tech"/>
                <a:cs typeface="Neo Tech"/>
                <a:sym typeface="Neo Tech"/>
              </a:rPr>
              <a:t>Manajemen data master siswa menggunakan Eloquent ORM, serta logika pencatatan kehadiran (Hadir, Sakit, Izin, Alfa) berbasis metode updateOrCreate untuk mencegah duplikasi data.</a:t>
            </a:r>
          </a:p>
        </p:txBody>
      </p:sp>
      <p:sp>
        <p:nvSpPr>
          <p:cNvPr id="32" name="TextBox 32"/>
          <p:cNvSpPr txBox="1"/>
          <p:nvPr/>
        </p:nvSpPr>
        <p:spPr>
          <a:xfrm>
            <a:off x="5363802" y="5416112"/>
            <a:ext cx="11455688" cy="965118"/>
          </a:xfrm>
          <a:prstGeom prst="rect">
            <a:avLst/>
          </a:prstGeom>
        </p:spPr>
        <p:txBody>
          <a:bodyPr lIns="0" tIns="0" rIns="0" bIns="0" rtlCol="0" anchor="t">
            <a:spAutoFit/>
          </a:bodyPr>
          <a:lstStyle/>
          <a:p>
            <a:pPr algn="l">
              <a:lnSpc>
                <a:spcPts val="3769"/>
              </a:lnSpc>
            </a:pPr>
            <a:r>
              <a:rPr lang="en-US" sz="2204" spc="24">
                <a:solidFill>
                  <a:srgbClr val="FFFFFF"/>
                </a:solidFill>
                <a:latin typeface="Neo Tech"/>
                <a:ea typeface="Neo Tech"/>
                <a:cs typeface="Neo Tech"/>
                <a:sym typeface="Neo Tech"/>
              </a:rPr>
              <a:t>Pembatasan hak akses halaman administrasi sekolah menggunakan paket resmi Laravel Breeze terenkripsi Bcrypt guna melindungi data presensi dari manipulasi pihak luar.</a:t>
            </a:r>
          </a:p>
        </p:txBody>
      </p:sp>
      <p:sp>
        <p:nvSpPr>
          <p:cNvPr id="33" name="TextBox 33"/>
          <p:cNvSpPr txBox="1"/>
          <p:nvPr/>
        </p:nvSpPr>
        <p:spPr>
          <a:xfrm>
            <a:off x="3137767" y="4283157"/>
            <a:ext cx="11942387" cy="965118"/>
          </a:xfrm>
          <a:prstGeom prst="rect">
            <a:avLst/>
          </a:prstGeom>
        </p:spPr>
        <p:txBody>
          <a:bodyPr lIns="0" tIns="0" rIns="0" bIns="0" rtlCol="0" anchor="t">
            <a:spAutoFit/>
          </a:bodyPr>
          <a:lstStyle/>
          <a:p>
            <a:pPr algn="l">
              <a:lnSpc>
                <a:spcPts val="3769"/>
              </a:lnSpc>
            </a:pPr>
            <a:r>
              <a:rPr lang="en-US" sz="2204" spc="24">
                <a:solidFill>
                  <a:srgbClr val="FFFFFF"/>
                </a:solidFill>
                <a:latin typeface="Neo Tech"/>
                <a:ea typeface="Neo Tech"/>
                <a:cs typeface="Neo Tech"/>
                <a:sym typeface="Neo Tech"/>
              </a:rPr>
              <a:t>Penyediaan endpoint universal (/api/siswa) untuk mendistribusikan data siswa dalam format JSON murni, siap diintegrasikan dengan aplikasi mobile atau sistem eksternal di masa depan.</a:t>
            </a:r>
          </a:p>
        </p:txBody>
      </p:sp>
      <p:sp>
        <p:nvSpPr>
          <p:cNvPr id="34" name="TextBox 34"/>
          <p:cNvSpPr txBox="1"/>
          <p:nvPr/>
        </p:nvSpPr>
        <p:spPr>
          <a:xfrm>
            <a:off x="3761731" y="6614560"/>
            <a:ext cx="11508346" cy="965118"/>
          </a:xfrm>
          <a:prstGeom prst="rect">
            <a:avLst/>
          </a:prstGeom>
        </p:spPr>
        <p:txBody>
          <a:bodyPr lIns="0" tIns="0" rIns="0" bIns="0" rtlCol="0" anchor="t">
            <a:spAutoFit/>
          </a:bodyPr>
          <a:lstStyle/>
          <a:p>
            <a:pPr algn="l">
              <a:lnSpc>
                <a:spcPts val="3769"/>
              </a:lnSpc>
            </a:pPr>
            <a:r>
              <a:rPr lang="en-US" sz="2204" spc="24">
                <a:solidFill>
                  <a:srgbClr val="FFFFFF"/>
                </a:solidFill>
                <a:latin typeface="Neo Tech"/>
                <a:ea typeface="Neo Tech"/>
                <a:cs typeface="Neo Tech"/>
                <a:sym typeface="Neo Tech"/>
              </a:rPr>
              <a:t>Mekanisme penundaan proses sekunder melalui background job (LogSiswaBaru::dispatch()) untuk mencatat log aktivitas sistem tanpa membebani response time utama pada browser.</a:t>
            </a:r>
          </a:p>
        </p:txBody>
      </p:sp>
      <p:grpSp>
        <p:nvGrpSpPr>
          <p:cNvPr id="35" name="Group 35"/>
          <p:cNvGrpSpPr/>
          <p:nvPr/>
        </p:nvGrpSpPr>
        <p:grpSpPr>
          <a:xfrm>
            <a:off x="1376105" y="7919651"/>
            <a:ext cx="6650060" cy="710242"/>
            <a:chOff x="0" y="0"/>
            <a:chExt cx="1885630" cy="201390"/>
          </a:xfrm>
        </p:grpSpPr>
        <p:sp>
          <p:nvSpPr>
            <p:cNvPr id="36" name="Freeform 36"/>
            <p:cNvSpPr/>
            <p:nvPr/>
          </p:nvSpPr>
          <p:spPr>
            <a:xfrm>
              <a:off x="0" y="0"/>
              <a:ext cx="1885630" cy="201390"/>
            </a:xfrm>
            <a:custGeom>
              <a:avLst/>
              <a:gdLst/>
              <a:ahLst/>
              <a:cxnLst/>
              <a:rect l="l" t="t" r="r" b="b"/>
              <a:pathLst>
                <a:path w="1885630" h="201390">
                  <a:moveTo>
                    <a:pt x="0" y="0"/>
                  </a:moveTo>
                  <a:lnTo>
                    <a:pt x="1885630" y="0"/>
                  </a:lnTo>
                  <a:lnTo>
                    <a:pt x="1885630" y="201390"/>
                  </a:lnTo>
                  <a:lnTo>
                    <a:pt x="0" y="201390"/>
                  </a:lnTo>
                  <a:close/>
                </a:path>
              </a:pathLst>
            </a:custGeom>
            <a:solidFill>
              <a:srgbClr val="1660D6"/>
            </a:solidFill>
          </p:spPr>
        </p:sp>
        <p:sp>
          <p:nvSpPr>
            <p:cNvPr id="37" name="TextBox 37"/>
            <p:cNvSpPr txBox="1"/>
            <p:nvPr/>
          </p:nvSpPr>
          <p:spPr>
            <a:xfrm>
              <a:off x="0" y="-38100"/>
              <a:ext cx="1885630" cy="239490"/>
            </a:xfrm>
            <a:prstGeom prst="rect">
              <a:avLst/>
            </a:prstGeom>
          </p:spPr>
          <p:txBody>
            <a:bodyPr lIns="50800" tIns="50800" rIns="50800" bIns="50800" rtlCol="0" anchor="ctr"/>
            <a:lstStyle/>
            <a:p>
              <a:pPr algn="ctr">
                <a:lnSpc>
                  <a:spcPts val="2659"/>
                </a:lnSpc>
              </a:pPr>
              <a:endParaRPr/>
            </a:p>
          </p:txBody>
        </p:sp>
      </p:grpSp>
      <p:sp>
        <p:nvSpPr>
          <p:cNvPr id="38" name="TextBox 38"/>
          <p:cNvSpPr txBox="1"/>
          <p:nvPr/>
        </p:nvSpPr>
        <p:spPr>
          <a:xfrm>
            <a:off x="1642301" y="8031088"/>
            <a:ext cx="6192401" cy="527146"/>
          </a:xfrm>
          <a:prstGeom prst="rect">
            <a:avLst/>
          </a:prstGeom>
        </p:spPr>
        <p:txBody>
          <a:bodyPr lIns="0" tIns="0" rIns="0" bIns="0" rtlCol="0" anchor="t">
            <a:spAutoFit/>
          </a:bodyPr>
          <a:lstStyle/>
          <a:p>
            <a:pPr algn="ctr">
              <a:lnSpc>
                <a:spcPts val="3756"/>
              </a:lnSpc>
            </a:pPr>
            <a:r>
              <a:rPr lang="en-US" sz="2934" b="1">
                <a:solidFill>
                  <a:srgbClr val="FFFFFF"/>
                </a:solidFill>
                <a:latin typeface="Neo Tech Bold"/>
                <a:ea typeface="Neo Tech Bold"/>
                <a:cs typeface="Neo Tech Bold"/>
                <a:sym typeface="Neo Tech Bold"/>
              </a:rPr>
              <a:t>Responsive UI (3D Glassmorphism)</a:t>
            </a:r>
          </a:p>
        </p:txBody>
      </p:sp>
      <p:sp>
        <p:nvSpPr>
          <p:cNvPr id="39" name="TextBox 39"/>
          <p:cNvSpPr txBox="1"/>
          <p:nvPr/>
        </p:nvSpPr>
        <p:spPr>
          <a:xfrm>
            <a:off x="8635317" y="7722553"/>
            <a:ext cx="9354032" cy="1442869"/>
          </a:xfrm>
          <a:prstGeom prst="rect">
            <a:avLst/>
          </a:prstGeom>
        </p:spPr>
        <p:txBody>
          <a:bodyPr lIns="0" tIns="0" rIns="0" bIns="0" rtlCol="0" anchor="t">
            <a:spAutoFit/>
          </a:bodyPr>
          <a:lstStyle/>
          <a:p>
            <a:pPr algn="l">
              <a:lnSpc>
                <a:spcPts val="3769"/>
              </a:lnSpc>
            </a:pPr>
            <a:r>
              <a:rPr lang="en-US" sz="2204" spc="24">
                <a:solidFill>
                  <a:srgbClr val="FFFFFF"/>
                </a:solidFill>
                <a:latin typeface="Neo Tech"/>
                <a:ea typeface="Neo Tech"/>
                <a:cs typeface="Neo Tech"/>
                <a:sym typeface="Neo Tech"/>
              </a:rPr>
              <a:t>Antarmuka dashboard interaktif, rekapitulasi otomatis secara real-time, dan sistem ekspor laporan (PDF/Excel) yang adaptif di berbagai perangkat menggunakan Tailwind CSS.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grpSp>
        <p:nvGrpSpPr>
          <p:cNvPr id="8" name="Group 8"/>
          <p:cNvGrpSpPr/>
          <p:nvPr/>
        </p:nvGrpSpPr>
        <p:grpSpPr>
          <a:xfrm>
            <a:off x="829596" y="1685925"/>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id="10" name="TextBox 10"/>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934082" y="235836"/>
            <a:ext cx="10349757" cy="869064"/>
          </a:xfrm>
          <a:custGeom>
            <a:avLst/>
            <a:gdLst/>
            <a:ahLst/>
            <a:cxnLst/>
            <a:rect l="l" t="t" r="r" b="b"/>
            <a:pathLst>
              <a:path w="10349757" h="869064">
                <a:moveTo>
                  <a:pt x="0" y="0"/>
                </a:moveTo>
                <a:lnTo>
                  <a:pt x="10349757" y="0"/>
                </a:lnTo>
                <a:lnTo>
                  <a:pt x="10349757" y="869064"/>
                </a:lnTo>
                <a:lnTo>
                  <a:pt x="0" y="86906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flipH="1">
            <a:off x="14493835" y="2508735"/>
            <a:ext cx="2765465" cy="191068"/>
          </a:xfrm>
          <a:custGeom>
            <a:avLst/>
            <a:gdLst/>
            <a:ahLst/>
            <a:cxnLst/>
            <a:rect l="l" t="t" r="r" b="b"/>
            <a:pathLst>
              <a:path w="2765465" h="191068">
                <a:moveTo>
                  <a:pt x="2765465" y="0"/>
                </a:moveTo>
                <a:lnTo>
                  <a:pt x="0" y="0"/>
                </a:lnTo>
                <a:lnTo>
                  <a:pt x="0" y="191069"/>
                </a:lnTo>
                <a:lnTo>
                  <a:pt x="2765465" y="191069"/>
                </a:lnTo>
                <a:lnTo>
                  <a:pt x="2765465"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Freeform 13"/>
          <p:cNvSpPr/>
          <p:nvPr/>
        </p:nvSpPr>
        <p:spPr>
          <a:xfrm>
            <a:off x="1029323" y="2508735"/>
            <a:ext cx="2765465" cy="191068"/>
          </a:xfrm>
          <a:custGeom>
            <a:avLst/>
            <a:gdLst/>
            <a:ahLst/>
            <a:cxnLst/>
            <a:rect l="l" t="t" r="r" b="b"/>
            <a:pathLst>
              <a:path w="2765465" h="191068">
                <a:moveTo>
                  <a:pt x="0" y="0"/>
                </a:moveTo>
                <a:lnTo>
                  <a:pt x="2765465" y="0"/>
                </a:lnTo>
                <a:lnTo>
                  <a:pt x="2765465" y="191069"/>
                </a:lnTo>
                <a:lnTo>
                  <a:pt x="0" y="19106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4" name="Group 14"/>
          <p:cNvGrpSpPr/>
          <p:nvPr/>
        </p:nvGrpSpPr>
        <p:grpSpPr>
          <a:xfrm>
            <a:off x="1372580" y="3309404"/>
            <a:ext cx="4224941" cy="682683"/>
            <a:chOff x="0" y="0"/>
            <a:chExt cx="1197986" cy="193575"/>
          </a:xfrm>
        </p:grpSpPr>
        <p:sp>
          <p:nvSpPr>
            <p:cNvPr id="15" name="Freeform 15"/>
            <p:cNvSpPr/>
            <p:nvPr/>
          </p:nvSpPr>
          <p:spPr>
            <a:xfrm>
              <a:off x="0" y="0"/>
              <a:ext cx="1197986" cy="193575"/>
            </a:xfrm>
            <a:custGeom>
              <a:avLst/>
              <a:gdLst/>
              <a:ahLst/>
              <a:cxnLst/>
              <a:rect l="l" t="t" r="r" b="b"/>
              <a:pathLst>
                <a:path w="1197986" h="193575">
                  <a:moveTo>
                    <a:pt x="0" y="0"/>
                  </a:moveTo>
                  <a:lnTo>
                    <a:pt x="1197986" y="0"/>
                  </a:lnTo>
                  <a:lnTo>
                    <a:pt x="1197986" y="193575"/>
                  </a:lnTo>
                  <a:lnTo>
                    <a:pt x="0" y="193575"/>
                  </a:lnTo>
                  <a:close/>
                </a:path>
              </a:pathLst>
            </a:custGeom>
            <a:solidFill>
              <a:srgbClr val="1660D6"/>
            </a:solidFill>
          </p:spPr>
        </p:sp>
        <p:sp>
          <p:nvSpPr>
            <p:cNvPr id="16" name="TextBox 16"/>
            <p:cNvSpPr txBox="1"/>
            <p:nvPr/>
          </p:nvSpPr>
          <p:spPr>
            <a:xfrm>
              <a:off x="0" y="-38100"/>
              <a:ext cx="1197986" cy="231675"/>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409946" y="6096000"/>
            <a:ext cx="3328555" cy="710242"/>
            <a:chOff x="0" y="0"/>
            <a:chExt cx="943815" cy="201390"/>
          </a:xfrm>
        </p:grpSpPr>
        <p:sp>
          <p:nvSpPr>
            <p:cNvPr id="18" name="Freeform 18"/>
            <p:cNvSpPr/>
            <p:nvPr/>
          </p:nvSpPr>
          <p:spPr>
            <a:xfrm>
              <a:off x="0" y="0"/>
              <a:ext cx="943815" cy="201390"/>
            </a:xfrm>
            <a:custGeom>
              <a:avLst/>
              <a:gdLst/>
              <a:ahLst/>
              <a:cxnLst/>
              <a:rect l="l" t="t" r="r" b="b"/>
              <a:pathLst>
                <a:path w="943815" h="201390">
                  <a:moveTo>
                    <a:pt x="0" y="0"/>
                  </a:moveTo>
                  <a:lnTo>
                    <a:pt x="943815" y="0"/>
                  </a:lnTo>
                  <a:lnTo>
                    <a:pt x="943815" y="201390"/>
                  </a:lnTo>
                  <a:lnTo>
                    <a:pt x="0" y="201390"/>
                  </a:lnTo>
                  <a:close/>
                </a:path>
              </a:pathLst>
            </a:custGeom>
            <a:solidFill>
              <a:srgbClr val="1660D6"/>
            </a:solidFill>
          </p:spPr>
        </p:sp>
        <p:sp>
          <p:nvSpPr>
            <p:cNvPr id="19" name="TextBox 19"/>
            <p:cNvSpPr txBox="1"/>
            <p:nvPr/>
          </p:nvSpPr>
          <p:spPr>
            <a:xfrm>
              <a:off x="0" y="-38100"/>
              <a:ext cx="943815" cy="23949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376105" y="4463935"/>
            <a:ext cx="4904831" cy="779717"/>
            <a:chOff x="0" y="0"/>
            <a:chExt cx="1390769" cy="221089"/>
          </a:xfrm>
        </p:grpSpPr>
        <p:sp>
          <p:nvSpPr>
            <p:cNvPr id="21" name="Freeform 21"/>
            <p:cNvSpPr/>
            <p:nvPr/>
          </p:nvSpPr>
          <p:spPr>
            <a:xfrm>
              <a:off x="0" y="0"/>
              <a:ext cx="1390769" cy="221089"/>
            </a:xfrm>
            <a:custGeom>
              <a:avLst/>
              <a:gdLst/>
              <a:ahLst/>
              <a:cxnLst/>
              <a:rect l="l" t="t" r="r" b="b"/>
              <a:pathLst>
                <a:path w="1390769" h="221089">
                  <a:moveTo>
                    <a:pt x="0" y="0"/>
                  </a:moveTo>
                  <a:lnTo>
                    <a:pt x="1390769" y="0"/>
                  </a:lnTo>
                  <a:lnTo>
                    <a:pt x="1390769" y="221089"/>
                  </a:lnTo>
                  <a:lnTo>
                    <a:pt x="0" y="221089"/>
                  </a:lnTo>
                  <a:close/>
                </a:path>
              </a:pathLst>
            </a:custGeom>
            <a:solidFill>
              <a:srgbClr val="EE8561"/>
            </a:solidFill>
          </p:spPr>
        </p:sp>
        <p:sp>
          <p:nvSpPr>
            <p:cNvPr id="22" name="TextBox 22"/>
            <p:cNvSpPr txBox="1"/>
            <p:nvPr/>
          </p:nvSpPr>
          <p:spPr>
            <a:xfrm>
              <a:off x="0" y="-38100"/>
              <a:ext cx="1390769" cy="259189"/>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409946" y="7282492"/>
            <a:ext cx="3045079" cy="734154"/>
            <a:chOff x="0" y="0"/>
            <a:chExt cx="863435" cy="208170"/>
          </a:xfrm>
        </p:grpSpPr>
        <p:sp>
          <p:nvSpPr>
            <p:cNvPr id="24" name="Freeform 24"/>
            <p:cNvSpPr/>
            <p:nvPr/>
          </p:nvSpPr>
          <p:spPr>
            <a:xfrm>
              <a:off x="0" y="0"/>
              <a:ext cx="863435" cy="208170"/>
            </a:xfrm>
            <a:custGeom>
              <a:avLst/>
              <a:gdLst/>
              <a:ahLst/>
              <a:cxnLst/>
              <a:rect l="l" t="t" r="r" b="b"/>
              <a:pathLst>
                <a:path w="863435" h="208170">
                  <a:moveTo>
                    <a:pt x="0" y="0"/>
                  </a:moveTo>
                  <a:lnTo>
                    <a:pt x="863435" y="0"/>
                  </a:lnTo>
                  <a:lnTo>
                    <a:pt x="863435" y="208170"/>
                  </a:lnTo>
                  <a:lnTo>
                    <a:pt x="0" y="208170"/>
                  </a:lnTo>
                  <a:close/>
                </a:path>
              </a:pathLst>
            </a:custGeom>
            <a:solidFill>
              <a:srgbClr val="EE8561"/>
            </a:solidFill>
          </p:spPr>
        </p:sp>
        <p:sp>
          <p:nvSpPr>
            <p:cNvPr id="25" name="TextBox 25"/>
            <p:cNvSpPr txBox="1"/>
            <p:nvPr/>
          </p:nvSpPr>
          <p:spPr>
            <a:xfrm>
              <a:off x="0" y="-38100"/>
              <a:ext cx="863435" cy="24627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6415228" y="1520343"/>
            <a:ext cx="5457544" cy="849707"/>
          </a:xfrm>
          <a:prstGeom prst="rect">
            <a:avLst/>
          </a:prstGeom>
        </p:spPr>
        <p:txBody>
          <a:bodyPr lIns="0" tIns="0" rIns="0" bIns="0" rtlCol="0" anchor="t">
            <a:spAutoFit/>
          </a:bodyPr>
          <a:lstStyle/>
          <a:p>
            <a:pPr algn="ctr">
              <a:lnSpc>
                <a:spcPts val="6073"/>
              </a:lnSpc>
            </a:pPr>
            <a:r>
              <a:rPr lang="en-US" sz="4745" b="1">
                <a:solidFill>
                  <a:srgbClr val="90F8FF"/>
                </a:solidFill>
                <a:latin typeface="Neo Tech Bold"/>
                <a:ea typeface="Neo Tech Bold"/>
                <a:cs typeface="Neo Tech Bold"/>
                <a:sym typeface="Neo Tech Bold"/>
              </a:rPr>
              <a:t>FITUR LARAVEL 13</a:t>
            </a:r>
          </a:p>
        </p:txBody>
      </p:sp>
      <p:sp>
        <p:nvSpPr>
          <p:cNvPr id="27" name="TextBox 27"/>
          <p:cNvSpPr txBox="1"/>
          <p:nvPr/>
        </p:nvSpPr>
        <p:spPr>
          <a:xfrm>
            <a:off x="2261790" y="3413835"/>
            <a:ext cx="2446521" cy="527146"/>
          </a:xfrm>
          <a:prstGeom prst="rect">
            <a:avLst/>
          </a:prstGeom>
        </p:spPr>
        <p:txBody>
          <a:bodyPr lIns="0" tIns="0" rIns="0" bIns="0" rtlCol="0" anchor="t">
            <a:spAutoFit/>
          </a:bodyPr>
          <a:lstStyle/>
          <a:p>
            <a:pPr algn="ctr">
              <a:lnSpc>
                <a:spcPts val="3756"/>
              </a:lnSpc>
            </a:pPr>
            <a:r>
              <a:rPr lang="en-US" sz="2934" b="1">
                <a:solidFill>
                  <a:srgbClr val="FFFFFF"/>
                </a:solidFill>
                <a:latin typeface="Neo Tech Bold"/>
                <a:ea typeface="Neo Tech Bold"/>
                <a:cs typeface="Neo Tech Bold"/>
                <a:sym typeface="Neo Tech Bold"/>
              </a:rPr>
              <a:t>Laravel Boost</a:t>
            </a:r>
          </a:p>
        </p:txBody>
      </p:sp>
      <p:sp>
        <p:nvSpPr>
          <p:cNvPr id="28" name="TextBox 28"/>
          <p:cNvSpPr txBox="1"/>
          <p:nvPr/>
        </p:nvSpPr>
        <p:spPr>
          <a:xfrm>
            <a:off x="1727264" y="6144686"/>
            <a:ext cx="2693920" cy="527146"/>
          </a:xfrm>
          <a:prstGeom prst="rect">
            <a:avLst/>
          </a:prstGeom>
        </p:spPr>
        <p:txBody>
          <a:bodyPr lIns="0" tIns="0" rIns="0" bIns="0" rtlCol="0" anchor="t">
            <a:spAutoFit/>
          </a:bodyPr>
          <a:lstStyle/>
          <a:p>
            <a:pPr algn="ctr">
              <a:lnSpc>
                <a:spcPts val="3756"/>
              </a:lnSpc>
            </a:pPr>
            <a:r>
              <a:rPr lang="en-US" sz="2934" b="1">
                <a:solidFill>
                  <a:srgbClr val="FFFFFF"/>
                </a:solidFill>
                <a:latin typeface="Neo Tech Bold"/>
                <a:ea typeface="Neo Tech Bold"/>
                <a:cs typeface="Neo Tech Bold"/>
                <a:sym typeface="Neo Tech Bold"/>
              </a:rPr>
              <a:t>JSON Response</a:t>
            </a:r>
          </a:p>
        </p:txBody>
      </p:sp>
      <p:sp>
        <p:nvSpPr>
          <p:cNvPr id="29" name="TextBox 29"/>
          <p:cNvSpPr txBox="1"/>
          <p:nvPr/>
        </p:nvSpPr>
        <p:spPr>
          <a:xfrm>
            <a:off x="1527439" y="4547358"/>
            <a:ext cx="4753497" cy="527146"/>
          </a:xfrm>
          <a:prstGeom prst="rect">
            <a:avLst/>
          </a:prstGeom>
        </p:spPr>
        <p:txBody>
          <a:bodyPr lIns="0" tIns="0" rIns="0" bIns="0" rtlCol="0" anchor="t">
            <a:spAutoFit/>
          </a:bodyPr>
          <a:lstStyle/>
          <a:p>
            <a:pPr algn="ctr">
              <a:lnSpc>
                <a:spcPts val="3756"/>
              </a:lnSpc>
            </a:pPr>
            <a:r>
              <a:rPr lang="en-US" sz="2934" b="1">
                <a:solidFill>
                  <a:srgbClr val="FFFFFF"/>
                </a:solidFill>
                <a:latin typeface="Neo Tech Bold"/>
                <a:ea typeface="Neo Tech Bold"/>
                <a:cs typeface="Neo Tech Bold"/>
                <a:sym typeface="Neo Tech Bold"/>
              </a:rPr>
              <a:t>PrefersJsonResponses() </a:t>
            </a:r>
          </a:p>
        </p:txBody>
      </p:sp>
      <p:sp>
        <p:nvSpPr>
          <p:cNvPr id="30" name="TextBox 30"/>
          <p:cNvSpPr txBox="1"/>
          <p:nvPr/>
        </p:nvSpPr>
        <p:spPr>
          <a:xfrm>
            <a:off x="1613469" y="7330117"/>
            <a:ext cx="2638035" cy="527146"/>
          </a:xfrm>
          <a:prstGeom prst="rect">
            <a:avLst/>
          </a:prstGeom>
        </p:spPr>
        <p:txBody>
          <a:bodyPr lIns="0" tIns="0" rIns="0" bIns="0" rtlCol="0" anchor="t">
            <a:spAutoFit/>
          </a:bodyPr>
          <a:lstStyle/>
          <a:p>
            <a:pPr algn="ctr">
              <a:lnSpc>
                <a:spcPts val="3756"/>
              </a:lnSpc>
            </a:pPr>
            <a:r>
              <a:rPr lang="en-US" sz="2934" b="1">
                <a:solidFill>
                  <a:srgbClr val="FFFFFF"/>
                </a:solidFill>
                <a:latin typeface="Neo Tech Bold"/>
                <a:ea typeface="Neo Tech Bold"/>
                <a:cs typeface="Neo Tech Bold"/>
                <a:sym typeface="Neo Tech Bold"/>
              </a:rPr>
              <a:t>Queue Routing</a:t>
            </a:r>
          </a:p>
        </p:txBody>
      </p:sp>
      <p:sp>
        <p:nvSpPr>
          <p:cNvPr id="31" name="TextBox 31"/>
          <p:cNvSpPr txBox="1"/>
          <p:nvPr/>
        </p:nvSpPr>
        <p:spPr>
          <a:xfrm>
            <a:off x="6126077" y="3173408"/>
            <a:ext cx="12161923" cy="965118"/>
          </a:xfrm>
          <a:prstGeom prst="rect">
            <a:avLst/>
          </a:prstGeom>
        </p:spPr>
        <p:txBody>
          <a:bodyPr lIns="0" tIns="0" rIns="0" bIns="0" rtlCol="0" anchor="t">
            <a:spAutoFit/>
          </a:bodyPr>
          <a:lstStyle/>
          <a:p>
            <a:pPr algn="l">
              <a:lnSpc>
                <a:spcPts val="3769"/>
              </a:lnSpc>
            </a:pPr>
            <a:r>
              <a:rPr lang="en-US" sz="2204" spc="24">
                <a:solidFill>
                  <a:srgbClr val="FFFFFF"/>
                </a:solidFill>
                <a:latin typeface="Neo Tech"/>
                <a:ea typeface="Neo Tech"/>
                <a:cs typeface="Neo Tech"/>
                <a:sym typeface="Neo Tech"/>
              </a:rPr>
              <a:t>Paket (package) resmi dari ekosistem Laravel yang menyediakan perancangan sistem login, registrasi, dan manajemen sesi secara instan dan aman.</a:t>
            </a:r>
          </a:p>
        </p:txBody>
      </p:sp>
      <p:sp>
        <p:nvSpPr>
          <p:cNvPr id="32" name="TextBox 32"/>
          <p:cNvSpPr txBox="1"/>
          <p:nvPr/>
        </p:nvSpPr>
        <p:spPr>
          <a:xfrm>
            <a:off x="6035847" y="8811087"/>
            <a:ext cx="11455688" cy="965118"/>
          </a:xfrm>
          <a:prstGeom prst="rect">
            <a:avLst/>
          </a:prstGeom>
        </p:spPr>
        <p:txBody>
          <a:bodyPr lIns="0" tIns="0" rIns="0" bIns="0" rtlCol="0" anchor="t">
            <a:spAutoFit/>
          </a:bodyPr>
          <a:lstStyle/>
          <a:p>
            <a:pPr algn="l">
              <a:lnSpc>
                <a:spcPts val="3769"/>
              </a:lnSpc>
            </a:pPr>
            <a:r>
              <a:rPr lang="en-US" sz="2204" spc="24">
                <a:solidFill>
                  <a:srgbClr val="FFFFFF"/>
                </a:solidFill>
                <a:latin typeface="Neo Tech"/>
                <a:ea typeface="Neo Tech"/>
                <a:cs typeface="Neo Tech"/>
                <a:sym typeface="Neo Tech"/>
              </a:rPr>
              <a:t>Lapisan penyaring (filter) keamanan yang ditempelkan langsung sebagai atribut/properti pada jalur URL (routing) aplikasi.</a:t>
            </a:r>
          </a:p>
        </p:txBody>
      </p:sp>
      <p:sp>
        <p:nvSpPr>
          <p:cNvPr id="33" name="TextBox 33"/>
          <p:cNvSpPr txBox="1"/>
          <p:nvPr/>
        </p:nvSpPr>
        <p:spPr>
          <a:xfrm>
            <a:off x="6682845" y="4311535"/>
            <a:ext cx="11605155" cy="1442869"/>
          </a:xfrm>
          <a:prstGeom prst="rect">
            <a:avLst/>
          </a:prstGeom>
        </p:spPr>
        <p:txBody>
          <a:bodyPr lIns="0" tIns="0" rIns="0" bIns="0" rtlCol="0" anchor="t">
            <a:spAutoFit/>
          </a:bodyPr>
          <a:lstStyle/>
          <a:p>
            <a:pPr algn="l">
              <a:lnSpc>
                <a:spcPts val="3769"/>
              </a:lnSpc>
            </a:pPr>
            <a:r>
              <a:rPr lang="en-US" sz="2204" spc="24">
                <a:solidFill>
                  <a:srgbClr val="FFFFFF"/>
                </a:solidFill>
                <a:latin typeface="Neo Tech"/>
                <a:ea typeface="Neo Tech"/>
                <a:cs typeface="Neo Tech"/>
                <a:sym typeface="Neo Tech"/>
              </a:rPr>
              <a:t>Sebuah instruksi internal pada arsitektur Laravel modern yang mendeteksi jenis permintaan (request) masuk, lalu memaksa sistem untuk selalu merespons dalam bentuk format JSON, terutama ketika terjadi error atau gagal validasi.</a:t>
            </a:r>
          </a:p>
        </p:txBody>
      </p:sp>
      <p:sp>
        <p:nvSpPr>
          <p:cNvPr id="34" name="TextBox 34"/>
          <p:cNvSpPr txBox="1"/>
          <p:nvPr/>
        </p:nvSpPr>
        <p:spPr>
          <a:xfrm>
            <a:off x="5223540" y="5925854"/>
            <a:ext cx="13298465" cy="965118"/>
          </a:xfrm>
          <a:prstGeom prst="rect">
            <a:avLst/>
          </a:prstGeom>
        </p:spPr>
        <p:txBody>
          <a:bodyPr lIns="0" tIns="0" rIns="0" bIns="0" rtlCol="0" anchor="t">
            <a:spAutoFit/>
          </a:bodyPr>
          <a:lstStyle/>
          <a:p>
            <a:pPr algn="l">
              <a:lnSpc>
                <a:spcPts val="3769"/>
              </a:lnSpc>
            </a:pPr>
            <a:r>
              <a:rPr lang="en-US" sz="2204" spc="24">
                <a:solidFill>
                  <a:srgbClr val="FFFFFF"/>
                </a:solidFill>
                <a:latin typeface="Neo Tech"/>
                <a:ea typeface="Neo Tech"/>
                <a:cs typeface="Neo Tech"/>
                <a:sym typeface="Neo Tech"/>
              </a:rPr>
              <a:t> Format pertukaran data berbentuk teks terstruktur (JavaScript Object Notation) berbasis pasangan key (kunci) dan value (nilai) yang sangat ringan dan menjadi standar global komunikasi antar aplikasi.</a:t>
            </a:r>
          </a:p>
        </p:txBody>
      </p:sp>
      <p:grpSp>
        <p:nvGrpSpPr>
          <p:cNvPr id="35" name="Group 35"/>
          <p:cNvGrpSpPr/>
          <p:nvPr/>
        </p:nvGrpSpPr>
        <p:grpSpPr>
          <a:xfrm>
            <a:off x="1409946" y="8972793"/>
            <a:ext cx="4187575" cy="614341"/>
            <a:chOff x="0" y="0"/>
            <a:chExt cx="1187390" cy="174197"/>
          </a:xfrm>
        </p:grpSpPr>
        <p:sp>
          <p:nvSpPr>
            <p:cNvPr id="36" name="Freeform 36"/>
            <p:cNvSpPr/>
            <p:nvPr/>
          </p:nvSpPr>
          <p:spPr>
            <a:xfrm>
              <a:off x="0" y="0"/>
              <a:ext cx="1187391" cy="174197"/>
            </a:xfrm>
            <a:custGeom>
              <a:avLst/>
              <a:gdLst/>
              <a:ahLst/>
              <a:cxnLst/>
              <a:rect l="l" t="t" r="r" b="b"/>
              <a:pathLst>
                <a:path w="1187391" h="174197">
                  <a:moveTo>
                    <a:pt x="0" y="0"/>
                  </a:moveTo>
                  <a:lnTo>
                    <a:pt x="1187391" y="0"/>
                  </a:lnTo>
                  <a:lnTo>
                    <a:pt x="1187391" y="174197"/>
                  </a:lnTo>
                  <a:lnTo>
                    <a:pt x="0" y="174197"/>
                  </a:lnTo>
                  <a:close/>
                </a:path>
              </a:pathLst>
            </a:custGeom>
            <a:solidFill>
              <a:srgbClr val="1660D6"/>
            </a:solidFill>
          </p:spPr>
        </p:sp>
        <p:sp>
          <p:nvSpPr>
            <p:cNvPr id="37" name="TextBox 37"/>
            <p:cNvSpPr txBox="1"/>
            <p:nvPr/>
          </p:nvSpPr>
          <p:spPr>
            <a:xfrm>
              <a:off x="0" y="-38100"/>
              <a:ext cx="1187390" cy="212297"/>
            </a:xfrm>
            <a:prstGeom prst="rect">
              <a:avLst/>
            </a:prstGeom>
          </p:spPr>
          <p:txBody>
            <a:bodyPr lIns="50800" tIns="50800" rIns="50800" bIns="50800" rtlCol="0" anchor="ctr"/>
            <a:lstStyle/>
            <a:p>
              <a:pPr algn="ctr">
                <a:lnSpc>
                  <a:spcPts val="2659"/>
                </a:lnSpc>
              </a:pPr>
              <a:endParaRPr/>
            </a:p>
          </p:txBody>
        </p:sp>
      </p:grpSp>
      <p:sp>
        <p:nvSpPr>
          <p:cNvPr id="38" name="TextBox 38"/>
          <p:cNvSpPr txBox="1"/>
          <p:nvPr/>
        </p:nvSpPr>
        <p:spPr>
          <a:xfrm>
            <a:off x="1613469" y="8973529"/>
            <a:ext cx="3738650" cy="527146"/>
          </a:xfrm>
          <a:prstGeom prst="rect">
            <a:avLst/>
          </a:prstGeom>
        </p:spPr>
        <p:txBody>
          <a:bodyPr lIns="0" tIns="0" rIns="0" bIns="0" rtlCol="0" anchor="t">
            <a:spAutoFit/>
          </a:bodyPr>
          <a:lstStyle/>
          <a:p>
            <a:pPr algn="ctr">
              <a:lnSpc>
                <a:spcPts val="3756"/>
              </a:lnSpc>
            </a:pPr>
            <a:r>
              <a:rPr lang="en-US" sz="2934" b="1">
                <a:solidFill>
                  <a:srgbClr val="FFFFFF"/>
                </a:solidFill>
                <a:latin typeface="Neo Tech Bold"/>
                <a:ea typeface="Neo Tech Bold"/>
                <a:cs typeface="Neo Tech Bold"/>
                <a:sym typeface="Neo Tech Bold"/>
              </a:rPr>
              <a:t>Attribute Midleware</a:t>
            </a:r>
          </a:p>
        </p:txBody>
      </p:sp>
      <p:sp>
        <p:nvSpPr>
          <p:cNvPr id="39" name="TextBox 39"/>
          <p:cNvSpPr txBox="1"/>
          <p:nvPr/>
        </p:nvSpPr>
        <p:spPr>
          <a:xfrm>
            <a:off x="4973957" y="7130092"/>
            <a:ext cx="12517577" cy="1442869"/>
          </a:xfrm>
          <a:prstGeom prst="rect">
            <a:avLst/>
          </a:prstGeom>
        </p:spPr>
        <p:txBody>
          <a:bodyPr lIns="0" tIns="0" rIns="0" bIns="0" rtlCol="0" anchor="t">
            <a:spAutoFit/>
          </a:bodyPr>
          <a:lstStyle/>
          <a:p>
            <a:pPr algn="l">
              <a:lnSpc>
                <a:spcPts val="3769"/>
              </a:lnSpc>
            </a:pPr>
            <a:r>
              <a:rPr lang="en-US" sz="2204" spc="24">
                <a:solidFill>
                  <a:srgbClr val="FFFFFF"/>
                </a:solidFill>
                <a:latin typeface="Neo Tech"/>
                <a:ea typeface="Neo Tech"/>
                <a:cs typeface="Neo Tech"/>
                <a:sym typeface="Neo Tech"/>
              </a:rPr>
              <a:t>Mekanisme penundaan tugas sekunder (tugas pendukung) ke latar belakang server. Laravel menggunakan antrean (Queue) agar browser pengguna tidak perlu menunggu proses yang memakan waktu lama selesai, sehingga performa web tetap terasa instan.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id="10" name="TextBox 10"/>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969121" y="1028700"/>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rot="-10800000">
            <a:off x="3969121" y="8389236"/>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3" name="Group 13"/>
          <p:cNvGrpSpPr/>
          <p:nvPr/>
        </p:nvGrpSpPr>
        <p:grpSpPr>
          <a:xfrm>
            <a:off x="1028700" y="1028700"/>
            <a:ext cx="16230600" cy="8229600"/>
            <a:chOff x="0" y="0"/>
            <a:chExt cx="4274726" cy="2167467"/>
          </a:xfrm>
        </p:grpSpPr>
        <p:sp>
          <p:nvSpPr>
            <p:cNvPr id="14" name="Freeform 14"/>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ln w="85725" cap="rnd">
              <a:solidFill>
                <a:srgbClr val="1EF1FF"/>
              </a:solidFill>
              <a:prstDash val="solid"/>
              <a:round/>
            </a:ln>
          </p:spPr>
        </p:sp>
        <p:sp>
          <p:nvSpPr>
            <p:cNvPr id="15" name="TextBox 15"/>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p:cNvSpPr/>
          <p:nvPr/>
        </p:nvSpPr>
        <p:spPr>
          <a:xfrm>
            <a:off x="1028700" y="2751622"/>
            <a:ext cx="3507719" cy="242352"/>
          </a:xfrm>
          <a:custGeom>
            <a:avLst/>
            <a:gdLst/>
            <a:ahLst/>
            <a:cxnLst/>
            <a:rect l="l" t="t" r="r" b="b"/>
            <a:pathLst>
              <a:path w="3507719" h="242352">
                <a:moveTo>
                  <a:pt x="0" y="0"/>
                </a:moveTo>
                <a:lnTo>
                  <a:pt x="3507719" y="0"/>
                </a:lnTo>
                <a:lnTo>
                  <a:pt x="3507719" y="242351"/>
                </a:lnTo>
                <a:lnTo>
                  <a:pt x="0" y="24235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7" name="Freeform 17"/>
          <p:cNvSpPr/>
          <p:nvPr/>
        </p:nvSpPr>
        <p:spPr>
          <a:xfrm flipH="1">
            <a:off x="13751581" y="2751622"/>
            <a:ext cx="3507719" cy="242352"/>
          </a:xfrm>
          <a:custGeom>
            <a:avLst/>
            <a:gdLst/>
            <a:ahLst/>
            <a:cxnLst/>
            <a:rect l="l" t="t" r="r" b="b"/>
            <a:pathLst>
              <a:path w="3507719" h="242352">
                <a:moveTo>
                  <a:pt x="3507719" y="0"/>
                </a:moveTo>
                <a:lnTo>
                  <a:pt x="0" y="0"/>
                </a:lnTo>
                <a:lnTo>
                  <a:pt x="0" y="242351"/>
                </a:lnTo>
                <a:lnTo>
                  <a:pt x="3507719" y="242351"/>
                </a:lnTo>
                <a:lnTo>
                  <a:pt x="3507719" y="0"/>
                </a:lnTo>
                <a:close/>
              </a:path>
            </a:pathLst>
          </a:custGeom>
          <a:blipFill>
            <a:blip>
              <a:extLst>
                <a:ext uri="{96DAC541-7B7A-43D3-8B79-37D633B846F1}">
                  <asvg:svgBlip xmlns:asvg="http://schemas.microsoft.com/office/drawing/2016/SVG/main" r:embed="rId4"/>
                </a:ext>
              </a:extLst>
            </a:blip>
            <a:stretch>
              <a:fillRect/>
            </a:stretch>
          </a:blipFill>
        </p:spPr>
      </p:sp>
      <p:sp>
        <p:nvSpPr>
          <p:cNvPr id="18" name="TextBox 18"/>
          <p:cNvSpPr txBox="1"/>
          <p:nvPr/>
        </p:nvSpPr>
        <p:spPr>
          <a:xfrm>
            <a:off x="5257801" y="1838597"/>
            <a:ext cx="7932824" cy="868058"/>
          </a:xfrm>
          <a:prstGeom prst="rect">
            <a:avLst/>
          </a:prstGeom>
        </p:spPr>
        <p:txBody>
          <a:bodyPr wrap="square" lIns="0" tIns="0" rIns="0" bIns="0" rtlCol="0" anchor="t">
            <a:spAutoFit/>
          </a:bodyPr>
          <a:lstStyle/>
          <a:p>
            <a:pPr algn="ctr">
              <a:lnSpc>
                <a:spcPts val="7394"/>
              </a:lnSpc>
            </a:pPr>
            <a:r>
              <a:rPr lang="en-US" sz="5776" b="1" dirty="0">
                <a:solidFill>
                  <a:srgbClr val="90F8FF"/>
                </a:solidFill>
                <a:latin typeface="Neo Tech Bold"/>
                <a:ea typeface="Neo Tech Bold"/>
                <a:cs typeface="Neo Tech Bold"/>
                <a:sym typeface="Neo Tech Bold"/>
              </a:rPr>
              <a:t>PENGGUNAAN AI</a:t>
            </a:r>
          </a:p>
        </p:txBody>
      </p:sp>
      <p:grpSp>
        <p:nvGrpSpPr>
          <p:cNvPr id="19" name="Group 19"/>
          <p:cNvGrpSpPr/>
          <p:nvPr/>
        </p:nvGrpSpPr>
        <p:grpSpPr>
          <a:xfrm>
            <a:off x="5696203" y="3227966"/>
            <a:ext cx="7742335" cy="1915534"/>
            <a:chOff x="0" y="0"/>
            <a:chExt cx="2039133" cy="504503"/>
          </a:xfrm>
        </p:grpSpPr>
        <p:sp>
          <p:nvSpPr>
            <p:cNvPr id="20" name="Freeform 20"/>
            <p:cNvSpPr/>
            <p:nvPr/>
          </p:nvSpPr>
          <p:spPr>
            <a:xfrm>
              <a:off x="0" y="0"/>
              <a:ext cx="2039133" cy="504503"/>
            </a:xfrm>
            <a:custGeom>
              <a:avLst/>
              <a:gdLst/>
              <a:ahLst/>
              <a:cxnLst/>
              <a:rect l="l" t="t" r="r" b="b"/>
              <a:pathLst>
                <a:path w="2039133" h="504503">
                  <a:moveTo>
                    <a:pt x="29998" y="0"/>
                  </a:moveTo>
                  <a:lnTo>
                    <a:pt x="2009135" y="0"/>
                  </a:lnTo>
                  <a:cubicBezTo>
                    <a:pt x="2025703" y="0"/>
                    <a:pt x="2039133" y="13431"/>
                    <a:pt x="2039133" y="29998"/>
                  </a:cubicBezTo>
                  <a:lnTo>
                    <a:pt x="2039133" y="474504"/>
                  </a:lnTo>
                  <a:cubicBezTo>
                    <a:pt x="2039133" y="482461"/>
                    <a:pt x="2035973" y="490091"/>
                    <a:pt x="2030347" y="495716"/>
                  </a:cubicBezTo>
                  <a:cubicBezTo>
                    <a:pt x="2024721" y="501342"/>
                    <a:pt x="2017091" y="504503"/>
                    <a:pt x="2009135" y="504503"/>
                  </a:cubicBezTo>
                  <a:lnTo>
                    <a:pt x="29998" y="504503"/>
                  </a:lnTo>
                  <a:cubicBezTo>
                    <a:pt x="22042" y="504503"/>
                    <a:pt x="14412" y="501342"/>
                    <a:pt x="8786" y="495716"/>
                  </a:cubicBezTo>
                  <a:cubicBezTo>
                    <a:pt x="3161" y="490091"/>
                    <a:pt x="0" y="482461"/>
                    <a:pt x="0" y="474504"/>
                  </a:cubicBezTo>
                  <a:lnTo>
                    <a:pt x="0" y="29998"/>
                  </a:lnTo>
                  <a:cubicBezTo>
                    <a:pt x="0" y="22042"/>
                    <a:pt x="3161" y="14412"/>
                    <a:pt x="8786" y="8786"/>
                  </a:cubicBezTo>
                  <a:cubicBezTo>
                    <a:pt x="14412" y="3161"/>
                    <a:pt x="22042" y="0"/>
                    <a:pt x="29998" y="0"/>
                  </a:cubicBezTo>
                  <a:close/>
                </a:path>
              </a:pathLst>
            </a:custGeom>
            <a:ln w="85725" cap="rnd">
              <a:solidFill>
                <a:srgbClr val="1EF1FF"/>
              </a:solidFill>
              <a:prstDash val="solid"/>
              <a:round/>
            </a:ln>
          </p:spPr>
        </p:sp>
        <p:sp>
          <p:nvSpPr>
            <p:cNvPr id="21" name="TextBox 21"/>
            <p:cNvSpPr txBox="1"/>
            <p:nvPr/>
          </p:nvSpPr>
          <p:spPr>
            <a:xfrm>
              <a:off x="0" y="-38100"/>
              <a:ext cx="2039133" cy="542603"/>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5604021" y="3357246"/>
            <a:ext cx="7834517" cy="1621976"/>
          </a:xfrm>
          <a:prstGeom prst="rect">
            <a:avLst/>
          </a:prstGeom>
        </p:spPr>
        <p:txBody>
          <a:bodyPr wrap="square" lIns="0" tIns="0" rIns="0" bIns="0" rtlCol="0" anchor="t">
            <a:spAutoFit/>
          </a:bodyPr>
          <a:lstStyle/>
          <a:p>
            <a:pPr algn="ctr">
              <a:lnSpc>
                <a:spcPts val="3441"/>
              </a:lnSpc>
            </a:pPr>
            <a:r>
              <a:rPr lang="en-US" sz="2688" spc="-77" dirty="0">
                <a:solidFill>
                  <a:srgbClr val="FFFFFF"/>
                </a:solidFill>
                <a:latin typeface="Neo Tech"/>
                <a:ea typeface="Neo Tech"/>
                <a:cs typeface="Neo Tech"/>
                <a:sym typeface="Neo Tech"/>
              </a:rPr>
              <a:t>AI </a:t>
            </a:r>
            <a:r>
              <a:rPr lang="en-US" sz="2688" spc="-77" dirty="0" err="1">
                <a:solidFill>
                  <a:srgbClr val="FFFFFF"/>
                </a:solidFill>
                <a:latin typeface="Neo Tech"/>
                <a:ea typeface="Neo Tech"/>
                <a:cs typeface="Neo Tech"/>
                <a:sym typeface="Neo Tech"/>
              </a:rPr>
              <a:t>apa</a:t>
            </a:r>
            <a:r>
              <a:rPr lang="en-US" sz="2688" spc="-77" dirty="0">
                <a:solidFill>
                  <a:srgbClr val="FFFFFF"/>
                </a:solidFill>
                <a:latin typeface="Neo Tech"/>
                <a:ea typeface="Neo Tech"/>
                <a:cs typeface="Neo Tech"/>
                <a:sym typeface="Neo Tech"/>
              </a:rPr>
              <a:t> yang </a:t>
            </a:r>
            <a:r>
              <a:rPr lang="en-US" sz="2688" spc="-77" dirty="0" err="1">
                <a:solidFill>
                  <a:srgbClr val="FFFFFF"/>
                </a:solidFill>
                <a:latin typeface="Neo Tech"/>
                <a:ea typeface="Neo Tech"/>
                <a:cs typeface="Neo Tech"/>
                <a:sym typeface="Neo Tech"/>
              </a:rPr>
              <a:t>digunakan</a:t>
            </a:r>
            <a:r>
              <a:rPr lang="en-US" sz="2688" spc="-77" dirty="0">
                <a:solidFill>
                  <a:srgbClr val="FFFFFF"/>
                </a:solidFill>
                <a:latin typeface="Neo Tech"/>
                <a:ea typeface="Neo Tech"/>
                <a:cs typeface="Neo Tech"/>
                <a:sym typeface="Neo Tech"/>
              </a:rPr>
              <a:t>?</a:t>
            </a:r>
          </a:p>
          <a:p>
            <a:pPr algn="ctr">
              <a:lnSpc>
                <a:spcPts val="3072"/>
              </a:lnSpc>
            </a:pPr>
            <a:endParaRPr lang="en-US" sz="2688" spc="-77" dirty="0">
              <a:solidFill>
                <a:srgbClr val="FFFFFF"/>
              </a:solidFill>
              <a:latin typeface="Neo Tech"/>
              <a:ea typeface="Neo Tech"/>
              <a:cs typeface="Neo Tech"/>
              <a:sym typeface="Neo Tech"/>
            </a:endParaRPr>
          </a:p>
          <a:p>
            <a:pPr algn="ctr">
              <a:lnSpc>
                <a:spcPts val="3072"/>
              </a:lnSpc>
            </a:pPr>
            <a:r>
              <a:rPr lang="en-US" sz="2400" spc="-69" dirty="0">
                <a:solidFill>
                  <a:srgbClr val="FFFFFF"/>
                </a:solidFill>
                <a:latin typeface="Neo Tech Light"/>
                <a:ea typeface="Neo Tech Light"/>
                <a:cs typeface="Neo Tech Light"/>
                <a:sym typeface="Neo Tech Light"/>
              </a:rPr>
              <a:t>Gemini : </a:t>
            </a:r>
            <a:r>
              <a:rPr lang="en-US" sz="2400" spc="-69" dirty="0" err="1">
                <a:solidFill>
                  <a:srgbClr val="FFFFFF"/>
                </a:solidFill>
                <a:latin typeface="Neo Tech Light"/>
                <a:ea typeface="Neo Tech Light"/>
                <a:cs typeface="Neo Tech Light"/>
                <a:sym typeface="Neo Tech Light"/>
              </a:rPr>
              <a:t>Digunakan</a:t>
            </a:r>
            <a:r>
              <a:rPr lang="en-US" sz="2400" spc="-69" dirty="0">
                <a:solidFill>
                  <a:srgbClr val="FFFFFF"/>
                </a:solidFill>
                <a:latin typeface="Neo Tech Light"/>
                <a:ea typeface="Neo Tech Light"/>
                <a:cs typeface="Neo Tech Light"/>
                <a:sym typeface="Neo Tech Light"/>
              </a:rPr>
              <a:t> </a:t>
            </a:r>
            <a:r>
              <a:rPr lang="en-US" sz="2400" spc="-69" dirty="0" err="1">
                <a:solidFill>
                  <a:srgbClr val="FFFFFF"/>
                </a:solidFill>
                <a:latin typeface="Neo Tech Light"/>
                <a:ea typeface="Neo Tech Light"/>
                <a:cs typeface="Neo Tech Light"/>
                <a:sym typeface="Neo Tech Light"/>
              </a:rPr>
              <a:t>untuk</a:t>
            </a:r>
            <a:r>
              <a:rPr lang="en-US" sz="2400" spc="-69" dirty="0">
                <a:solidFill>
                  <a:srgbClr val="FFFFFF"/>
                </a:solidFill>
                <a:latin typeface="Neo Tech Light"/>
                <a:ea typeface="Neo Tech Light"/>
                <a:cs typeface="Neo Tech Light"/>
                <a:sym typeface="Neo Tech Light"/>
              </a:rPr>
              <a:t> </a:t>
            </a:r>
            <a:r>
              <a:rPr lang="en-US" sz="2400" spc="-69" dirty="0" err="1">
                <a:solidFill>
                  <a:srgbClr val="FFFFFF"/>
                </a:solidFill>
                <a:latin typeface="Neo Tech Light"/>
                <a:ea typeface="Neo Tech Light"/>
                <a:cs typeface="Neo Tech Light"/>
                <a:sym typeface="Neo Tech Light"/>
              </a:rPr>
              <a:t>menganalisis</a:t>
            </a:r>
            <a:r>
              <a:rPr lang="en-US" sz="2400" spc="-69" dirty="0">
                <a:solidFill>
                  <a:srgbClr val="FFFFFF"/>
                </a:solidFill>
                <a:latin typeface="Neo Tech Light"/>
                <a:ea typeface="Neo Tech Light"/>
                <a:cs typeface="Neo Tech Light"/>
                <a:sym typeface="Neo Tech Light"/>
              </a:rPr>
              <a:t> basis </a:t>
            </a:r>
            <a:r>
              <a:rPr lang="en-US" sz="2400" spc="-69" dirty="0" err="1">
                <a:solidFill>
                  <a:srgbClr val="FFFFFF"/>
                </a:solidFill>
                <a:latin typeface="Neo Tech Light"/>
                <a:ea typeface="Neo Tech Light"/>
                <a:cs typeface="Neo Tech Light"/>
                <a:sym typeface="Neo Tech Light"/>
              </a:rPr>
              <a:t>kode</a:t>
            </a:r>
            <a:r>
              <a:rPr lang="en-US" sz="2400" spc="-69" dirty="0">
                <a:solidFill>
                  <a:srgbClr val="FFFFFF"/>
                </a:solidFill>
                <a:latin typeface="Neo Tech Light"/>
                <a:ea typeface="Neo Tech Light"/>
                <a:cs typeface="Neo Tech Light"/>
                <a:sym typeface="Neo Tech Light"/>
              </a:rPr>
              <a:t> </a:t>
            </a:r>
            <a:r>
              <a:rPr lang="en-US" sz="2400" spc="-69" dirty="0" err="1">
                <a:solidFill>
                  <a:srgbClr val="FFFFFF"/>
                </a:solidFill>
                <a:latin typeface="Neo Tech Light"/>
                <a:ea typeface="Neo Tech Light"/>
                <a:cs typeface="Neo Tech Light"/>
                <a:sym typeface="Neo Tech Light"/>
              </a:rPr>
              <a:t>berskala</a:t>
            </a:r>
            <a:r>
              <a:rPr lang="en-US" sz="2400" spc="-69" dirty="0">
                <a:solidFill>
                  <a:srgbClr val="FFFFFF"/>
                </a:solidFill>
                <a:latin typeface="Neo Tech Light"/>
                <a:ea typeface="Neo Tech Light"/>
                <a:cs typeface="Neo Tech Light"/>
                <a:sym typeface="Neo Tech Light"/>
              </a:rPr>
              <a:t> </a:t>
            </a:r>
            <a:r>
              <a:rPr lang="en-US" sz="2400" spc="-69" dirty="0" err="1">
                <a:solidFill>
                  <a:srgbClr val="FFFFFF"/>
                </a:solidFill>
                <a:latin typeface="Neo Tech Light"/>
                <a:ea typeface="Neo Tech Light"/>
                <a:cs typeface="Neo Tech Light"/>
                <a:sym typeface="Neo Tech Light"/>
              </a:rPr>
              <a:t>besar</a:t>
            </a:r>
            <a:r>
              <a:rPr lang="en-US" sz="2400" spc="-69" dirty="0">
                <a:solidFill>
                  <a:srgbClr val="FFFFFF"/>
                </a:solidFill>
                <a:latin typeface="Neo Tech Light"/>
                <a:ea typeface="Neo Tech Light"/>
                <a:cs typeface="Neo Tech Light"/>
                <a:sym typeface="Neo Tech Light"/>
              </a:rPr>
              <a:t>, </a:t>
            </a:r>
            <a:r>
              <a:rPr lang="en-US" sz="2400" spc="-69" dirty="0" err="1">
                <a:solidFill>
                  <a:srgbClr val="FFFFFF"/>
                </a:solidFill>
                <a:latin typeface="Neo Tech Light"/>
                <a:ea typeface="Neo Tech Light"/>
                <a:cs typeface="Neo Tech Light"/>
                <a:sym typeface="Neo Tech Light"/>
              </a:rPr>
              <a:t>dokumentasi</a:t>
            </a:r>
            <a:r>
              <a:rPr lang="en-US" sz="2400" spc="-69" dirty="0">
                <a:solidFill>
                  <a:srgbClr val="FFFFFF"/>
                </a:solidFill>
                <a:latin typeface="Neo Tech Light"/>
                <a:ea typeface="Neo Tech Light"/>
                <a:cs typeface="Neo Tech Light"/>
                <a:sym typeface="Neo Tech Light"/>
              </a:rPr>
              <a:t> </a:t>
            </a:r>
            <a:r>
              <a:rPr lang="en-US" sz="2400" spc="-69" dirty="0" err="1">
                <a:solidFill>
                  <a:srgbClr val="FFFFFF"/>
                </a:solidFill>
                <a:latin typeface="Neo Tech Light"/>
                <a:ea typeface="Neo Tech Light"/>
                <a:cs typeface="Neo Tech Light"/>
                <a:sym typeface="Neo Tech Light"/>
              </a:rPr>
              <a:t>teknis</a:t>
            </a:r>
            <a:r>
              <a:rPr lang="en-US" sz="2400" spc="-69" dirty="0">
                <a:solidFill>
                  <a:srgbClr val="FFFFFF"/>
                </a:solidFill>
                <a:latin typeface="Neo Tech Light"/>
                <a:ea typeface="Neo Tech Light"/>
                <a:cs typeface="Neo Tech Light"/>
                <a:sym typeface="Neo Tech Light"/>
              </a:rPr>
              <a:t>, dan </a:t>
            </a:r>
            <a:r>
              <a:rPr lang="en-US" sz="2400" spc="-69" dirty="0" err="1">
                <a:solidFill>
                  <a:srgbClr val="FFFFFF"/>
                </a:solidFill>
                <a:latin typeface="Neo Tech Light"/>
                <a:ea typeface="Neo Tech Light"/>
                <a:cs typeface="Neo Tech Light"/>
                <a:sym typeface="Neo Tech Light"/>
              </a:rPr>
              <a:t>arsitektur</a:t>
            </a:r>
            <a:r>
              <a:rPr lang="en-US" sz="2400" spc="-69" dirty="0">
                <a:solidFill>
                  <a:srgbClr val="FFFFFF"/>
                </a:solidFill>
                <a:latin typeface="Neo Tech Light"/>
                <a:ea typeface="Neo Tech Light"/>
                <a:cs typeface="Neo Tech Light"/>
                <a:sym typeface="Neo Tech Light"/>
              </a:rPr>
              <a:t> </a:t>
            </a:r>
            <a:r>
              <a:rPr lang="en-US" sz="2400" spc="-69" dirty="0" err="1">
                <a:solidFill>
                  <a:srgbClr val="FFFFFF"/>
                </a:solidFill>
                <a:latin typeface="Neo Tech Light"/>
                <a:ea typeface="Neo Tech Light"/>
                <a:cs typeface="Neo Tech Light"/>
                <a:sym typeface="Neo Tech Light"/>
              </a:rPr>
              <a:t>sistem</a:t>
            </a:r>
            <a:r>
              <a:rPr lang="en-US" sz="2400" spc="-69" dirty="0">
                <a:solidFill>
                  <a:srgbClr val="FFFFFF"/>
                </a:solidFill>
                <a:latin typeface="Neo Tech Light"/>
                <a:ea typeface="Neo Tech Light"/>
                <a:cs typeface="Neo Tech Light"/>
                <a:sym typeface="Neo Tech Light"/>
              </a:rPr>
              <a:t>.</a:t>
            </a:r>
          </a:p>
        </p:txBody>
      </p:sp>
      <p:sp>
        <p:nvSpPr>
          <p:cNvPr id="23" name="TextBox 23"/>
          <p:cNvSpPr txBox="1"/>
          <p:nvPr/>
        </p:nvSpPr>
        <p:spPr>
          <a:xfrm>
            <a:off x="2044903" y="5934075"/>
            <a:ext cx="14198194" cy="1947291"/>
          </a:xfrm>
          <a:prstGeom prst="rect">
            <a:avLst/>
          </a:prstGeom>
        </p:spPr>
        <p:txBody>
          <a:bodyPr lIns="0" tIns="0" rIns="0" bIns="0" rtlCol="0" anchor="t">
            <a:spAutoFit/>
          </a:bodyPr>
          <a:lstStyle/>
          <a:p>
            <a:pPr algn="ctr">
              <a:lnSpc>
                <a:spcPts val="3072"/>
              </a:lnSpc>
            </a:pPr>
            <a:r>
              <a:rPr lang="en-US" sz="2400" spc="-69">
                <a:solidFill>
                  <a:srgbClr val="FFFFFF"/>
                </a:solidFill>
                <a:latin typeface="Neo Tech"/>
                <a:ea typeface="Neo Tech"/>
                <a:cs typeface="Neo Tech"/>
                <a:sym typeface="Neo Tech"/>
              </a:rPr>
              <a:t>Prompt apa yang digunakan?</a:t>
            </a:r>
          </a:p>
          <a:p>
            <a:pPr algn="ctr">
              <a:lnSpc>
                <a:spcPts val="3072"/>
              </a:lnSpc>
            </a:pPr>
            <a:endParaRPr lang="en-US" sz="2400" spc="-69">
              <a:solidFill>
                <a:srgbClr val="FFFFFF"/>
              </a:solidFill>
              <a:latin typeface="Neo Tech"/>
              <a:ea typeface="Neo Tech"/>
              <a:cs typeface="Neo Tech"/>
              <a:sym typeface="Neo Tech"/>
            </a:endParaRPr>
          </a:p>
          <a:p>
            <a:pPr algn="ctr">
              <a:lnSpc>
                <a:spcPts val="3072"/>
              </a:lnSpc>
            </a:pPr>
            <a:r>
              <a:rPr lang="en-US" sz="2400" spc="-69">
                <a:solidFill>
                  <a:srgbClr val="FFFFFF"/>
                </a:solidFill>
                <a:latin typeface="Neo Tech Light"/>
                <a:ea typeface="Neo Tech Light"/>
                <a:cs typeface="Neo Tech Light"/>
                <a:sym typeface="Neo Tech Light"/>
              </a:rPr>
              <a:t>"Buatkan file migration dan model Eloquent untuk tabel 'posts' dengan kolom judul, isi teks, dan relasi ke tabel users berdasarkan skema database saat ini."</a:t>
            </a:r>
          </a:p>
          <a:p>
            <a:pPr algn="ctr">
              <a:lnSpc>
                <a:spcPts val="3072"/>
              </a:lnSpc>
            </a:pPr>
            <a:r>
              <a:rPr lang="en-US" sz="2400" spc="-69">
                <a:solidFill>
                  <a:srgbClr val="FFFFFF"/>
                </a:solidFill>
                <a:latin typeface="Neo Tech Light"/>
                <a:ea typeface="Neo Tech Light"/>
                <a:cs typeface="Neo Tech Light"/>
                <a:sym typeface="Neo Tech Light"/>
              </a:rPr>
              <a:t>"Baca log error terakhir dari aplikasi dan jelaskan mengapa halaman daftar pengguna memunculkan layar putih kosong."</a:t>
            </a:r>
          </a:p>
        </p:txBody>
      </p:sp>
      <p:grpSp>
        <p:nvGrpSpPr>
          <p:cNvPr id="24" name="Group 24"/>
          <p:cNvGrpSpPr/>
          <p:nvPr/>
        </p:nvGrpSpPr>
        <p:grpSpPr>
          <a:xfrm>
            <a:off x="2044903" y="5705475"/>
            <a:ext cx="14198194" cy="2683761"/>
            <a:chOff x="0" y="0"/>
            <a:chExt cx="3739442" cy="706834"/>
          </a:xfrm>
        </p:grpSpPr>
        <p:sp>
          <p:nvSpPr>
            <p:cNvPr id="25" name="Freeform 25"/>
            <p:cNvSpPr/>
            <p:nvPr/>
          </p:nvSpPr>
          <p:spPr>
            <a:xfrm>
              <a:off x="0" y="0"/>
              <a:ext cx="3739442" cy="706834"/>
            </a:xfrm>
            <a:custGeom>
              <a:avLst/>
              <a:gdLst/>
              <a:ahLst/>
              <a:cxnLst/>
              <a:rect l="l" t="t" r="r" b="b"/>
              <a:pathLst>
                <a:path w="3739442" h="706834">
                  <a:moveTo>
                    <a:pt x="16358" y="0"/>
                  </a:moveTo>
                  <a:lnTo>
                    <a:pt x="3723084" y="0"/>
                  </a:lnTo>
                  <a:cubicBezTo>
                    <a:pt x="3732118" y="0"/>
                    <a:pt x="3739442" y="7324"/>
                    <a:pt x="3739442" y="16358"/>
                  </a:cubicBezTo>
                  <a:lnTo>
                    <a:pt x="3739442" y="690476"/>
                  </a:lnTo>
                  <a:cubicBezTo>
                    <a:pt x="3739442" y="699510"/>
                    <a:pt x="3732118" y="706834"/>
                    <a:pt x="3723084" y="706834"/>
                  </a:cubicBezTo>
                  <a:lnTo>
                    <a:pt x="16358" y="706834"/>
                  </a:lnTo>
                  <a:cubicBezTo>
                    <a:pt x="7324" y="706834"/>
                    <a:pt x="0" y="699510"/>
                    <a:pt x="0" y="690476"/>
                  </a:cubicBezTo>
                  <a:lnTo>
                    <a:pt x="0" y="16358"/>
                  </a:lnTo>
                  <a:cubicBezTo>
                    <a:pt x="0" y="7324"/>
                    <a:pt x="7324" y="0"/>
                    <a:pt x="16358" y="0"/>
                  </a:cubicBezTo>
                  <a:close/>
                </a:path>
              </a:pathLst>
            </a:custGeom>
            <a:ln w="85725" cap="rnd">
              <a:solidFill>
                <a:srgbClr val="1EF1FF"/>
              </a:solidFill>
              <a:prstDash val="solid"/>
              <a:round/>
            </a:ln>
          </p:spPr>
        </p:sp>
        <p:sp>
          <p:nvSpPr>
            <p:cNvPr id="26" name="TextBox 26"/>
            <p:cNvSpPr txBox="1"/>
            <p:nvPr/>
          </p:nvSpPr>
          <p:spPr>
            <a:xfrm>
              <a:off x="0" y="-38100"/>
              <a:ext cx="3739442" cy="744934"/>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id="10" name="TextBox 10"/>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969121" y="1028700"/>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rot="-10800000">
            <a:off x="3969121" y="9372600"/>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3" name="Group 13"/>
          <p:cNvGrpSpPr/>
          <p:nvPr/>
        </p:nvGrpSpPr>
        <p:grpSpPr>
          <a:xfrm>
            <a:off x="1028700" y="1028700"/>
            <a:ext cx="16368905" cy="9258300"/>
            <a:chOff x="0" y="0"/>
            <a:chExt cx="4311152" cy="2438400"/>
          </a:xfrm>
        </p:grpSpPr>
        <p:sp>
          <p:nvSpPr>
            <p:cNvPr id="14" name="Freeform 14"/>
            <p:cNvSpPr/>
            <p:nvPr/>
          </p:nvSpPr>
          <p:spPr>
            <a:xfrm>
              <a:off x="0" y="0"/>
              <a:ext cx="4311152" cy="2438400"/>
            </a:xfrm>
            <a:custGeom>
              <a:avLst/>
              <a:gdLst/>
              <a:ahLst/>
              <a:cxnLst/>
              <a:rect l="l" t="t" r="r" b="b"/>
              <a:pathLst>
                <a:path w="4311152" h="2438400">
                  <a:moveTo>
                    <a:pt x="14189" y="0"/>
                  </a:moveTo>
                  <a:lnTo>
                    <a:pt x="4296963" y="0"/>
                  </a:lnTo>
                  <a:cubicBezTo>
                    <a:pt x="4304799" y="0"/>
                    <a:pt x="4311152" y="6353"/>
                    <a:pt x="4311152" y="14189"/>
                  </a:cubicBezTo>
                  <a:lnTo>
                    <a:pt x="4311152" y="2424211"/>
                  </a:lnTo>
                  <a:cubicBezTo>
                    <a:pt x="4311152" y="2432047"/>
                    <a:pt x="4304799" y="2438400"/>
                    <a:pt x="4296963" y="2438400"/>
                  </a:cubicBezTo>
                  <a:lnTo>
                    <a:pt x="14189" y="2438400"/>
                  </a:lnTo>
                  <a:cubicBezTo>
                    <a:pt x="6353" y="2438400"/>
                    <a:pt x="0" y="2432047"/>
                    <a:pt x="0" y="2424211"/>
                  </a:cubicBezTo>
                  <a:lnTo>
                    <a:pt x="0" y="14189"/>
                  </a:lnTo>
                  <a:cubicBezTo>
                    <a:pt x="0" y="6353"/>
                    <a:pt x="6353" y="0"/>
                    <a:pt x="14189" y="0"/>
                  </a:cubicBezTo>
                  <a:close/>
                </a:path>
              </a:pathLst>
            </a:custGeom>
            <a:ln w="85725" cap="rnd">
              <a:solidFill>
                <a:srgbClr val="1EF1FF"/>
              </a:solidFill>
              <a:prstDash val="solid"/>
              <a:round/>
            </a:ln>
          </p:spPr>
        </p:sp>
        <p:sp>
          <p:nvSpPr>
            <p:cNvPr id="15" name="TextBox 15"/>
            <p:cNvSpPr txBox="1"/>
            <p:nvPr/>
          </p:nvSpPr>
          <p:spPr>
            <a:xfrm>
              <a:off x="0" y="-38100"/>
              <a:ext cx="4311152" cy="2476500"/>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p:cNvSpPr/>
          <p:nvPr/>
        </p:nvSpPr>
        <p:spPr>
          <a:xfrm>
            <a:off x="1028700" y="2751622"/>
            <a:ext cx="3507719" cy="242352"/>
          </a:xfrm>
          <a:custGeom>
            <a:avLst/>
            <a:gdLst/>
            <a:ahLst/>
            <a:cxnLst/>
            <a:rect l="l" t="t" r="r" b="b"/>
            <a:pathLst>
              <a:path w="3507719" h="242352">
                <a:moveTo>
                  <a:pt x="0" y="0"/>
                </a:moveTo>
                <a:lnTo>
                  <a:pt x="3507719" y="0"/>
                </a:lnTo>
                <a:lnTo>
                  <a:pt x="3507719" y="242351"/>
                </a:lnTo>
                <a:lnTo>
                  <a:pt x="0" y="24235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7" name="Freeform 17"/>
          <p:cNvSpPr/>
          <p:nvPr/>
        </p:nvSpPr>
        <p:spPr>
          <a:xfrm flipH="1">
            <a:off x="13751581" y="2751622"/>
            <a:ext cx="3507719" cy="242352"/>
          </a:xfrm>
          <a:custGeom>
            <a:avLst/>
            <a:gdLst/>
            <a:ahLst/>
            <a:cxnLst/>
            <a:rect l="l" t="t" r="r" b="b"/>
            <a:pathLst>
              <a:path w="3507719" h="242352">
                <a:moveTo>
                  <a:pt x="3507719" y="0"/>
                </a:moveTo>
                <a:lnTo>
                  <a:pt x="0" y="0"/>
                </a:lnTo>
                <a:lnTo>
                  <a:pt x="0" y="242351"/>
                </a:lnTo>
                <a:lnTo>
                  <a:pt x="3507719" y="242351"/>
                </a:lnTo>
                <a:lnTo>
                  <a:pt x="3507719" y="0"/>
                </a:lnTo>
                <a:close/>
              </a:path>
            </a:pathLst>
          </a:custGeom>
          <a:blipFill>
            <a:blip>
              <a:extLst>
                <a:ext uri="{96DAC541-7B7A-43D3-8B79-37D633B846F1}">
                  <asvg:svgBlip xmlns:asvg="http://schemas.microsoft.com/office/drawing/2016/SVG/main" r:embed="rId4"/>
                </a:ext>
              </a:extLst>
            </a:blip>
            <a:stretch>
              <a:fillRect/>
            </a:stretch>
          </a:blipFill>
        </p:spPr>
      </p:sp>
      <p:sp>
        <p:nvSpPr>
          <p:cNvPr id="18" name="Freeform 18"/>
          <p:cNvSpPr/>
          <p:nvPr/>
        </p:nvSpPr>
        <p:spPr>
          <a:xfrm>
            <a:off x="2251092" y="6230864"/>
            <a:ext cx="865301" cy="865301"/>
          </a:xfrm>
          <a:custGeom>
            <a:avLst/>
            <a:gdLst/>
            <a:ahLst/>
            <a:cxnLst/>
            <a:rect l="l" t="t" r="r" b="b"/>
            <a:pathLst>
              <a:path w="865301" h="865301">
                <a:moveTo>
                  <a:pt x="0" y="0"/>
                </a:moveTo>
                <a:lnTo>
                  <a:pt x="865301" y="0"/>
                </a:lnTo>
                <a:lnTo>
                  <a:pt x="865301" y="865301"/>
                </a:lnTo>
                <a:lnTo>
                  <a:pt x="0" y="865301"/>
                </a:lnTo>
                <a:lnTo>
                  <a:pt x="0" y="0"/>
                </a:lnTo>
                <a:close/>
              </a:path>
            </a:pathLst>
          </a:custGeom>
          <a:blipFill>
            <a:blip r:embed="rId5"/>
            <a:stretch>
              <a:fillRect/>
            </a:stretch>
          </a:blipFill>
        </p:spPr>
      </p:sp>
      <p:sp>
        <p:nvSpPr>
          <p:cNvPr id="19" name="Freeform 19"/>
          <p:cNvSpPr/>
          <p:nvPr/>
        </p:nvSpPr>
        <p:spPr>
          <a:xfrm>
            <a:off x="1640597" y="8757819"/>
            <a:ext cx="2242799" cy="1529181"/>
          </a:xfrm>
          <a:custGeom>
            <a:avLst/>
            <a:gdLst/>
            <a:ahLst/>
            <a:cxnLst/>
            <a:rect l="l" t="t" r="r" b="b"/>
            <a:pathLst>
              <a:path w="2242799" h="1529181">
                <a:moveTo>
                  <a:pt x="0" y="0"/>
                </a:moveTo>
                <a:lnTo>
                  <a:pt x="2242799" y="0"/>
                </a:lnTo>
                <a:lnTo>
                  <a:pt x="2242799" y="1529181"/>
                </a:lnTo>
                <a:lnTo>
                  <a:pt x="0" y="152918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0" name="Freeform 20"/>
          <p:cNvSpPr/>
          <p:nvPr/>
        </p:nvSpPr>
        <p:spPr>
          <a:xfrm>
            <a:off x="14384041" y="8757819"/>
            <a:ext cx="2242799" cy="1529181"/>
          </a:xfrm>
          <a:custGeom>
            <a:avLst/>
            <a:gdLst/>
            <a:ahLst/>
            <a:cxnLst/>
            <a:rect l="l" t="t" r="r" b="b"/>
            <a:pathLst>
              <a:path w="2242799" h="1529181">
                <a:moveTo>
                  <a:pt x="0" y="0"/>
                </a:moveTo>
                <a:lnTo>
                  <a:pt x="2242799" y="0"/>
                </a:lnTo>
                <a:lnTo>
                  <a:pt x="2242799" y="1529181"/>
                </a:lnTo>
                <a:lnTo>
                  <a:pt x="0" y="152918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1" name="Freeform 21"/>
          <p:cNvSpPr/>
          <p:nvPr/>
        </p:nvSpPr>
        <p:spPr>
          <a:xfrm>
            <a:off x="5200100" y="3448546"/>
            <a:ext cx="6600710" cy="2994887"/>
          </a:xfrm>
          <a:custGeom>
            <a:avLst/>
            <a:gdLst/>
            <a:ahLst/>
            <a:cxnLst/>
            <a:rect l="l" t="t" r="r" b="b"/>
            <a:pathLst>
              <a:path w="6600710" h="2994887">
                <a:moveTo>
                  <a:pt x="0" y="0"/>
                </a:moveTo>
                <a:lnTo>
                  <a:pt x="6600710" y="0"/>
                </a:lnTo>
                <a:lnTo>
                  <a:pt x="6600710" y="2994886"/>
                </a:lnTo>
                <a:lnTo>
                  <a:pt x="0" y="2994886"/>
                </a:lnTo>
                <a:lnTo>
                  <a:pt x="0" y="0"/>
                </a:lnTo>
                <a:close/>
              </a:path>
            </a:pathLst>
          </a:custGeom>
          <a:blipFill>
            <a:blip r:embed="rId7"/>
            <a:stretch>
              <a:fillRect l="-10884" r="-1657" b="-70345"/>
            </a:stretch>
          </a:blipFill>
        </p:spPr>
      </p:sp>
      <p:sp>
        <p:nvSpPr>
          <p:cNvPr id="22" name="TextBox 22"/>
          <p:cNvSpPr txBox="1"/>
          <p:nvPr/>
        </p:nvSpPr>
        <p:spPr>
          <a:xfrm>
            <a:off x="7230371" y="1973177"/>
            <a:ext cx="3827259" cy="1034201"/>
          </a:xfrm>
          <a:prstGeom prst="rect">
            <a:avLst/>
          </a:prstGeom>
        </p:spPr>
        <p:txBody>
          <a:bodyPr lIns="0" tIns="0" rIns="0" bIns="0" rtlCol="0" anchor="t">
            <a:spAutoFit/>
          </a:bodyPr>
          <a:lstStyle/>
          <a:p>
            <a:pPr algn="ctr">
              <a:lnSpc>
                <a:spcPts val="7394"/>
              </a:lnSpc>
            </a:pPr>
            <a:r>
              <a:rPr lang="en-US" sz="5776" b="1">
                <a:solidFill>
                  <a:srgbClr val="90F8FF"/>
                </a:solidFill>
                <a:latin typeface="Neo Tech Bold"/>
                <a:ea typeface="Neo Tech Bold"/>
                <a:cs typeface="Neo Tech Bold"/>
                <a:sym typeface="Neo Tech Bold"/>
              </a:rPr>
              <a:t>LANJUTAN </a:t>
            </a:r>
          </a:p>
        </p:txBody>
      </p:sp>
      <p:sp>
        <p:nvSpPr>
          <p:cNvPr id="23" name="TextBox 23"/>
          <p:cNvSpPr txBox="1"/>
          <p:nvPr/>
        </p:nvSpPr>
        <p:spPr>
          <a:xfrm>
            <a:off x="5200100" y="6675050"/>
            <a:ext cx="10816037" cy="2641454"/>
          </a:xfrm>
          <a:prstGeom prst="rect">
            <a:avLst/>
          </a:prstGeom>
        </p:spPr>
        <p:txBody>
          <a:bodyPr lIns="0" tIns="0" rIns="0" bIns="0" rtlCol="0" anchor="t">
            <a:spAutoFit/>
          </a:bodyPr>
          <a:lstStyle/>
          <a:p>
            <a:pPr algn="l">
              <a:lnSpc>
                <a:spcPts val="5200"/>
              </a:lnSpc>
            </a:pPr>
            <a:r>
              <a:rPr lang="en-US" sz="3041" spc="33">
                <a:solidFill>
                  <a:srgbClr val="FFFFFF"/>
                </a:solidFill>
                <a:latin typeface="Neo Tech"/>
                <a:ea typeface="Neo Tech"/>
                <a:cs typeface="Neo Tech"/>
                <a:sym typeface="Neo Tech"/>
              </a:rPr>
              <a:t>Fitur export ke dokumen PDF tidak menggunakan pustaka (library) eksternal berat seperti DomPDF atau Snappy, melainkan mengoptimalkan rendering engine bawaan browser melalui instruksi JavaScript window.print().</a:t>
            </a:r>
          </a:p>
        </p:txBody>
      </p:sp>
      <p:sp>
        <p:nvSpPr>
          <p:cNvPr id="24" name="TextBox 24"/>
          <p:cNvSpPr txBox="1"/>
          <p:nvPr/>
        </p:nvSpPr>
        <p:spPr>
          <a:xfrm>
            <a:off x="1640597" y="3238996"/>
            <a:ext cx="1684050" cy="669779"/>
          </a:xfrm>
          <a:prstGeom prst="rect">
            <a:avLst/>
          </a:prstGeom>
        </p:spPr>
        <p:txBody>
          <a:bodyPr lIns="0" tIns="0" rIns="0" bIns="0" rtlCol="0" anchor="t">
            <a:spAutoFit/>
          </a:bodyPr>
          <a:lstStyle/>
          <a:p>
            <a:pPr algn="l">
              <a:lnSpc>
                <a:spcPts val="5200"/>
              </a:lnSpc>
            </a:pPr>
            <a:r>
              <a:rPr lang="en-US" sz="3041" spc="33">
                <a:solidFill>
                  <a:srgbClr val="FFFFFF"/>
                </a:solidFill>
                <a:latin typeface="Neo Tech"/>
                <a:ea typeface="Neo Tech"/>
                <a:cs typeface="Neo Tech"/>
                <a:sym typeface="Neo Tech"/>
              </a:rPr>
              <a:t>Hasil AI :</a:t>
            </a:r>
          </a:p>
        </p:txBody>
      </p:sp>
      <p:sp>
        <p:nvSpPr>
          <p:cNvPr id="25" name="TextBox 25"/>
          <p:cNvSpPr txBox="1"/>
          <p:nvPr/>
        </p:nvSpPr>
        <p:spPr>
          <a:xfrm>
            <a:off x="1534519" y="6675050"/>
            <a:ext cx="2966809" cy="669779"/>
          </a:xfrm>
          <a:prstGeom prst="rect">
            <a:avLst/>
          </a:prstGeom>
        </p:spPr>
        <p:txBody>
          <a:bodyPr lIns="0" tIns="0" rIns="0" bIns="0" rtlCol="0" anchor="t">
            <a:spAutoFit/>
          </a:bodyPr>
          <a:lstStyle/>
          <a:p>
            <a:pPr algn="l">
              <a:lnSpc>
                <a:spcPts val="5200"/>
              </a:lnSpc>
            </a:pPr>
            <a:r>
              <a:rPr lang="en-US" sz="3041" spc="33">
                <a:solidFill>
                  <a:srgbClr val="FFFFFF"/>
                </a:solidFill>
                <a:latin typeface="Neo Tech"/>
                <a:ea typeface="Neo Tech"/>
                <a:cs typeface="Neo Tech"/>
                <a:sym typeface="Neo Tech"/>
              </a:rPr>
              <a:t>Analisis hasil AI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5" name="Freeform 5"/>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6" name="Freeform 6"/>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grpSp>
        <p:nvGrpSpPr>
          <p:cNvPr id="7" name="Group 7"/>
          <p:cNvGrpSpPr/>
          <p:nvPr/>
        </p:nvGrpSpPr>
        <p:grpSpPr>
          <a:xfrm>
            <a:off x="1028700" y="1028700"/>
            <a:ext cx="16230600" cy="8229600"/>
            <a:chOff x="0" y="0"/>
            <a:chExt cx="4274726" cy="2167467"/>
          </a:xfrm>
        </p:grpSpPr>
        <p:sp>
          <p:nvSpPr>
            <p:cNvPr id="8" name="Freeform 8"/>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id="9" name="TextBox 9"/>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3599816" y="16761"/>
            <a:ext cx="10349757" cy="869064"/>
          </a:xfrm>
          <a:custGeom>
            <a:avLst/>
            <a:gdLst/>
            <a:ahLst/>
            <a:cxnLst/>
            <a:rect l="l" t="t" r="r" b="b"/>
            <a:pathLst>
              <a:path w="10349757" h="869064">
                <a:moveTo>
                  <a:pt x="0" y="0"/>
                </a:moveTo>
                <a:lnTo>
                  <a:pt x="10349757" y="0"/>
                </a:lnTo>
                <a:lnTo>
                  <a:pt x="10349757" y="869064"/>
                </a:lnTo>
                <a:lnTo>
                  <a:pt x="0" y="869064"/>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0" y="0"/>
            <a:ext cx="18288000" cy="10287000"/>
            <a:chOff x="0" y="0"/>
            <a:chExt cx="4816593" cy="2709333"/>
          </a:xfrm>
        </p:grpSpPr>
        <p:sp>
          <p:nvSpPr>
            <p:cNvPr id="12" name="Freeform 12"/>
            <p:cNvSpPr/>
            <p:nvPr/>
          </p:nvSpPr>
          <p:spPr>
            <a:xfrm>
              <a:off x="0" y="0"/>
              <a:ext cx="4816592" cy="2709333"/>
            </a:xfrm>
            <a:custGeom>
              <a:avLst/>
              <a:gdLst/>
              <a:ahLst/>
              <a:cxnLst/>
              <a:rect l="l" t="t" r="r" b="b"/>
              <a:pathLst>
                <a:path w="4816592" h="2709333">
                  <a:moveTo>
                    <a:pt x="12700" y="0"/>
                  </a:moveTo>
                  <a:lnTo>
                    <a:pt x="4803892" y="0"/>
                  </a:lnTo>
                  <a:cubicBezTo>
                    <a:pt x="4807261" y="0"/>
                    <a:pt x="4810491" y="1338"/>
                    <a:pt x="4812873" y="3720"/>
                  </a:cubicBezTo>
                  <a:cubicBezTo>
                    <a:pt x="4815255" y="6101"/>
                    <a:pt x="4816592" y="9332"/>
                    <a:pt x="4816592" y="12700"/>
                  </a:cubicBezTo>
                  <a:lnTo>
                    <a:pt x="4816592" y="2696633"/>
                  </a:lnTo>
                  <a:cubicBezTo>
                    <a:pt x="4816592" y="2703647"/>
                    <a:pt x="4810906" y="2709333"/>
                    <a:pt x="4803892" y="2709333"/>
                  </a:cubicBezTo>
                  <a:lnTo>
                    <a:pt x="12700" y="2709333"/>
                  </a:lnTo>
                  <a:cubicBezTo>
                    <a:pt x="5686" y="2709333"/>
                    <a:pt x="0" y="2703647"/>
                    <a:pt x="0" y="2696633"/>
                  </a:cubicBezTo>
                  <a:lnTo>
                    <a:pt x="0" y="12700"/>
                  </a:lnTo>
                  <a:cubicBezTo>
                    <a:pt x="0" y="5686"/>
                    <a:pt x="5686" y="0"/>
                    <a:pt x="12700" y="0"/>
                  </a:cubicBezTo>
                  <a:close/>
                </a:path>
              </a:pathLst>
            </a:custGeom>
            <a:ln w="85725" cap="rnd">
              <a:solidFill>
                <a:srgbClr val="1EF1FF"/>
              </a:solidFill>
              <a:prstDash val="solid"/>
              <a:round/>
            </a:ln>
          </p:spPr>
        </p:sp>
        <p:sp>
          <p:nvSpPr>
            <p:cNvPr id="13" name="TextBox 13"/>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2847722" y="876300"/>
            <a:ext cx="12042247" cy="1034201"/>
          </a:xfrm>
          <a:prstGeom prst="rect">
            <a:avLst/>
          </a:prstGeom>
        </p:spPr>
        <p:txBody>
          <a:bodyPr lIns="0" tIns="0" rIns="0" bIns="0" rtlCol="0" anchor="t">
            <a:spAutoFit/>
          </a:bodyPr>
          <a:lstStyle/>
          <a:p>
            <a:pPr algn="ctr">
              <a:lnSpc>
                <a:spcPts val="7394"/>
              </a:lnSpc>
            </a:pPr>
            <a:r>
              <a:rPr lang="en-US" sz="5776" b="1">
                <a:solidFill>
                  <a:srgbClr val="90F8FF"/>
                </a:solidFill>
                <a:latin typeface="Neo Tech Bold"/>
                <a:ea typeface="Neo Tech Bold"/>
                <a:cs typeface="Neo Tech Bold"/>
                <a:sym typeface="Neo Tech Bold"/>
              </a:rPr>
              <a:t>PERBANDINGAN LARAVEL 12 &amp; 13</a:t>
            </a:r>
          </a:p>
        </p:txBody>
      </p:sp>
      <p:sp>
        <p:nvSpPr>
          <p:cNvPr id="15" name="TextBox 15"/>
          <p:cNvSpPr txBox="1"/>
          <p:nvPr/>
        </p:nvSpPr>
        <p:spPr>
          <a:xfrm>
            <a:off x="637573" y="1954127"/>
            <a:ext cx="17650427" cy="1076325"/>
          </a:xfrm>
          <a:prstGeom prst="rect">
            <a:avLst/>
          </a:prstGeom>
        </p:spPr>
        <p:txBody>
          <a:bodyPr lIns="0" tIns="0" rIns="0" bIns="0" rtlCol="0" anchor="t">
            <a:spAutoFit/>
          </a:bodyPr>
          <a:lstStyle/>
          <a:p>
            <a:pPr algn="l">
              <a:lnSpc>
                <a:spcPts val="4274"/>
              </a:lnSpc>
            </a:pPr>
            <a:r>
              <a:rPr lang="en-US" sz="2499" spc="27">
                <a:solidFill>
                  <a:srgbClr val="FFFFFF"/>
                </a:solidFill>
                <a:latin typeface="Neo Tech"/>
                <a:ea typeface="Neo Tech"/>
                <a:cs typeface="Neo Tech"/>
                <a:sym typeface="Neo Tech"/>
              </a:rPr>
              <a:t>Laravel versi terbaru membawa banyak sekali pembaruan arsitektur yang berfokus pada simplifikasi kode, performa eksekusi, dan kenyamanan developer (Developer Experience).</a:t>
            </a:r>
          </a:p>
        </p:txBody>
      </p:sp>
      <p:sp>
        <p:nvSpPr>
          <p:cNvPr id="16" name="TextBox 16"/>
          <p:cNvSpPr txBox="1"/>
          <p:nvPr/>
        </p:nvSpPr>
        <p:spPr>
          <a:xfrm>
            <a:off x="637573" y="3196388"/>
            <a:ext cx="17086304" cy="1609725"/>
          </a:xfrm>
          <a:prstGeom prst="rect">
            <a:avLst/>
          </a:prstGeom>
        </p:spPr>
        <p:txBody>
          <a:bodyPr lIns="0" tIns="0" rIns="0" bIns="0" rtlCol="0" anchor="t">
            <a:spAutoFit/>
          </a:bodyPr>
          <a:lstStyle/>
          <a:p>
            <a:pPr algn="l">
              <a:lnSpc>
                <a:spcPts val="4274"/>
              </a:lnSpc>
            </a:pPr>
            <a:r>
              <a:rPr lang="en-US" sz="2499" spc="27">
                <a:solidFill>
                  <a:srgbClr val="FFFFFF"/>
                </a:solidFill>
                <a:latin typeface="Neo Tech"/>
                <a:ea typeface="Neo Tech"/>
                <a:cs typeface="Neo Tech"/>
                <a:sym typeface="Neo Tech"/>
              </a:rPr>
              <a:t>Sebagai context, Laravel 11 ke 12 berfokus pada pembersihan struktur folder, sedangkan transisi ke Laravel 13 menyempurnakan fitur-fitur modern seperti penanganan API, sistem Queue yang lebih pintar, dan sintaksis berbasis atribut PHP yang makin bersih.</a:t>
            </a:r>
          </a:p>
        </p:txBody>
      </p:sp>
      <p:sp>
        <p:nvSpPr>
          <p:cNvPr id="17" name="TextBox 17"/>
          <p:cNvSpPr txBox="1"/>
          <p:nvPr/>
        </p:nvSpPr>
        <p:spPr>
          <a:xfrm>
            <a:off x="637573" y="5153025"/>
            <a:ext cx="4654689" cy="669779"/>
          </a:xfrm>
          <a:prstGeom prst="rect">
            <a:avLst/>
          </a:prstGeom>
        </p:spPr>
        <p:txBody>
          <a:bodyPr lIns="0" tIns="0" rIns="0" bIns="0" rtlCol="0" anchor="t">
            <a:spAutoFit/>
          </a:bodyPr>
          <a:lstStyle/>
          <a:p>
            <a:pPr algn="l">
              <a:lnSpc>
                <a:spcPts val="5200"/>
              </a:lnSpc>
            </a:pPr>
            <a:r>
              <a:rPr lang="en-US" sz="3041" b="1" spc="33">
                <a:solidFill>
                  <a:srgbClr val="FFFFFF"/>
                </a:solidFill>
                <a:latin typeface="Neo Tech Bold"/>
                <a:ea typeface="Neo Tech Bold"/>
                <a:cs typeface="Neo Tech Bold"/>
                <a:sym typeface="Neo Tech Bold"/>
              </a:rPr>
              <a:t>PrefersJsonResponses()</a:t>
            </a:r>
          </a:p>
        </p:txBody>
      </p:sp>
      <p:sp>
        <p:nvSpPr>
          <p:cNvPr id="18" name="TextBox 18"/>
          <p:cNvSpPr txBox="1"/>
          <p:nvPr/>
        </p:nvSpPr>
        <p:spPr>
          <a:xfrm>
            <a:off x="637573" y="6051404"/>
            <a:ext cx="17086304" cy="1609725"/>
          </a:xfrm>
          <a:prstGeom prst="rect">
            <a:avLst/>
          </a:prstGeom>
        </p:spPr>
        <p:txBody>
          <a:bodyPr lIns="0" tIns="0" rIns="0" bIns="0" rtlCol="0" anchor="t">
            <a:spAutoFit/>
          </a:bodyPr>
          <a:lstStyle/>
          <a:p>
            <a:pPr algn="l">
              <a:lnSpc>
                <a:spcPts val="4274"/>
              </a:lnSpc>
            </a:pPr>
            <a:r>
              <a:rPr lang="en-US" sz="2499" b="1" spc="27">
                <a:solidFill>
                  <a:srgbClr val="FFFFFF"/>
                </a:solidFill>
                <a:latin typeface="Neo Tech Bold"/>
                <a:ea typeface="Neo Tech Bold"/>
                <a:cs typeface="Neo Tech Bold"/>
                <a:sym typeface="Neo Tech Bold"/>
              </a:rPr>
              <a:t>Perubahan </a:t>
            </a:r>
            <a:r>
              <a:rPr lang="en-US" sz="2499" spc="27">
                <a:solidFill>
                  <a:srgbClr val="FFFFFF"/>
                </a:solidFill>
                <a:latin typeface="Neo Tech"/>
                <a:ea typeface="Neo Tech"/>
                <a:cs typeface="Neo Tech"/>
                <a:sym typeface="Neo Tech"/>
              </a:rPr>
              <a:t>: Pada Laravel 12, jika sebuah aplikasi luar (seperti Android) menembak endpoint API (/api/siswa) dan terjadi kesalahan (error server atau gagal validasi input), Laravel secara default akan mengirimkan balikan berupa halaman web HTML utuh (halaman error merah khas Laravel). </a:t>
            </a:r>
          </a:p>
        </p:txBody>
      </p:sp>
      <p:sp>
        <p:nvSpPr>
          <p:cNvPr id="19" name="TextBox 19"/>
          <p:cNvSpPr txBox="1"/>
          <p:nvPr/>
        </p:nvSpPr>
        <p:spPr>
          <a:xfrm>
            <a:off x="637573" y="7899254"/>
            <a:ext cx="17086304" cy="2143125"/>
          </a:xfrm>
          <a:prstGeom prst="rect">
            <a:avLst/>
          </a:prstGeom>
        </p:spPr>
        <p:txBody>
          <a:bodyPr lIns="0" tIns="0" rIns="0" bIns="0" rtlCol="0" anchor="t">
            <a:spAutoFit/>
          </a:bodyPr>
          <a:lstStyle/>
          <a:p>
            <a:pPr algn="l">
              <a:lnSpc>
                <a:spcPts val="4274"/>
              </a:lnSpc>
            </a:pPr>
            <a:r>
              <a:rPr lang="en-US" sz="2499" b="1" spc="27">
                <a:solidFill>
                  <a:srgbClr val="FFFFFF"/>
                </a:solidFill>
                <a:latin typeface="Neo Tech Bold"/>
                <a:ea typeface="Neo Tech Bold"/>
                <a:cs typeface="Neo Tech Bold"/>
                <a:sym typeface="Neo Tech Bold"/>
              </a:rPr>
              <a:t>Improvement di Laravel 13</a:t>
            </a:r>
            <a:r>
              <a:rPr lang="en-US" sz="2499" spc="27">
                <a:solidFill>
                  <a:srgbClr val="FFFFFF"/>
                </a:solidFill>
                <a:latin typeface="Neo Tech"/>
                <a:ea typeface="Neo Tech"/>
                <a:cs typeface="Neo Tech"/>
                <a:sym typeface="Neo Tech"/>
              </a:rPr>
              <a:t> : Laravel 13 memperkenalkan metode global prefersJsonResponses(). Dengan fitur ini, cukup disetel satu kali di pusat konfigurasi sistem, Laravel menjamin rute API pasti selalu membalas dalam bentuk teks JSON murni, baik ketika prosesnya sukses maupun saat sistem mengalami error hancur sekalipun. Aplikasi luar pun menjadi jauh lebih stabil saat membaca data dari proyekmu.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id="10" name="TextBox 10"/>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770017" y="0"/>
            <a:ext cx="10349757" cy="869064"/>
          </a:xfrm>
          <a:custGeom>
            <a:avLst/>
            <a:gdLst/>
            <a:ahLst/>
            <a:cxnLst/>
            <a:rect l="l" t="t" r="r" b="b"/>
            <a:pathLst>
              <a:path w="10349757" h="869064">
                <a:moveTo>
                  <a:pt x="0" y="0"/>
                </a:moveTo>
                <a:lnTo>
                  <a:pt x="10349757" y="0"/>
                </a:lnTo>
                <a:lnTo>
                  <a:pt x="10349757" y="869064"/>
                </a:lnTo>
                <a:lnTo>
                  <a:pt x="0" y="869064"/>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0" y="0"/>
            <a:ext cx="18288000" cy="10287000"/>
            <a:chOff x="0" y="0"/>
            <a:chExt cx="4816593" cy="2709333"/>
          </a:xfrm>
        </p:grpSpPr>
        <p:sp>
          <p:nvSpPr>
            <p:cNvPr id="13" name="Freeform 13"/>
            <p:cNvSpPr/>
            <p:nvPr/>
          </p:nvSpPr>
          <p:spPr>
            <a:xfrm>
              <a:off x="0" y="0"/>
              <a:ext cx="4816592" cy="2709333"/>
            </a:xfrm>
            <a:custGeom>
              <a:avLst/>
              <a:gdLst/>
              <a:ahLst/>
              <a:cxnLst/>
              <a:rect l="l" t="t" r="r" b="b"/>
              <a:pathLst>
                <a:path w="4816592" h="2709333">
                  <a:moveTo>
                    <a:pt x="12700" y="0"/>
                  </a:moveTo>
                  <a:lnTo>
                    <a:pt x="4803892" y="0"/>
                  </a:lnTo>
                  <a:cubicBezTo>
                    <a:pt x="4807261" y="0"/>
                    <a:pt x="4810491" y="1338"/>
                    <a:pt x="4812873" y="3720"/>
                  </a:cubicBezTo>
                  <a:cubicBezTo>
                    <a:pt x="4815255" y="6101"/>
                    <a:pt x="4816592" y="9332"/>
                    <a:pt x="4816592" y="12700"/>
                  </a:cubicBezTo>
                  <a:lnTo>
                    <a:pt x="4816592" y="2696633"/>
                  </a:lnTo>
                  <a:cubicBezTo>
                    <a:pt x="4816592" y="2703647"/>
                    <a:pt x="4810906" y="2709333"/>
                    <a:pt x="4803892" y="2709333"/>
                  </a:cubicBezTo>
                  <a:lnTo>
                    <a:pt x="12700" y="2709333"/>
                  </a:lnTo>
                  <a:cubicBezTo>
                    <a:pt x="5686" y="2709333"/>
                    <a:pt x="0" y="2703647"/>
                    <a:pt x="0" y="2696633"/>
                  </a:cubicBezTo>
                  <a:lnTo>
                    <a:pt x="0" y="12700"/>
                  </a:lnTo>
                  <a:cubicBezTo>
                    <a:pt x="0" y="5686"/>
                    <a:pt x="5686" y="0"/>
                    <a:pt x="12700" y="0"/>
                  </a:cubicBezTo>
                  <a:close/>
                </a:path>
              </a:pathLst>
            </a:custGeom>
            <a:ln w="85725" cap="rnd">
              <a:solidFill>
                <a:srgbClr val="1EF1FF"/>
              </a:solidFill>
              <a:prstDash val="solid"/>
              <a:round/>
            </a:ln>
          </p:spPr>
        </p:sp>
        <p:sp>
          <p:nvSpPr>
            <p:cNvPr id="14" name="TextBox 14"/>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7221109" y="806398"/>
            <a:ext cx="3447574" cy="999726"/>
          </a:xfrm>
          <a:prstGeom prst="rect">
            <a:avLst/>
          </a:prstGeom>
        </p:spPr>
        <p:txBody>
          <a:bodyPr lIns="0" tIns="0" rIns="0" bIns="0" rtlCol="0" anchor="t">
            <a:spAutoFit/>
          </a:bodyPr>
          <a:lstStyle/>
          <a:p>
            <a:pPr algn="ctr">
              <a:lnSpc>
                <a:spcPts val="7010"/>
              </a:lnSpc>
            </a:pPr>
            <a:r>
              <a:rPr lang="en-US" sz="5476" b="1">
                <a:solidFill>
                  <a:srgbClr val="90F8FF"/>
                </a:solidFill>
                <a:latin typeface="Neo Tech Bold"/>
                <a:ea typeface="Neo Tech Bold"/>
                <a:cs typeface="Neo Tech Bold"/>
                <a:sym typeface="Neo Tech Bold"/>
              </a:rPr>
              <a:t>LANJUTAN</a:t>
            </a:r>
          </a:p>
        </p:txBody>
      </p:sp>
      <p:sp>
        <p:nvSpPr>
          <p:cNvPr id="16" name="TextBox 16"/>
          <p:cNvSpPr txBox="1"/>
          <p:nvPr/>
        </p:nvSpPr>
        <p:spPr>
          <a:xfrm>
            <a:off x="590197" y="2791045"/>
            <a:ext cx="4231791" cy="669779"/>
          </a:xfrm>
          <a:prstGeom prst="rect">
            <a:avLst/>
          </a:prstGeom>
        </p:spPr>
        <p:txBody>
          <a:bodyPr lIns="0" tIns="0" rIns="0" bIns="0" rtlCol="0" anchor="t">
            <a:spAutoFit/>
          </a:bodyPr>
          <a:lstStyle/>
          <a:p>
            <a:pPr algn="l">
              <a:lnSpc>
                <a:spcPts val="5200"/>
              </a:lnSpc>
            </a:pPr>
            <a:r>
              <a:rPr lang="en-US" sz="3041" b="1" spc="33">
                <a:solidFill>
                  <a:srgbClr val="FFFFFF"/>
                </a:solidFill>
                <a:latin typeface="Neo Tech Bold"/>
                <a:ea typeface="Neo Tech Bold"/>
                <a:cs typeface="Neo Tech Bold"/>
                <a:sym typeface="Neo Tech Bold"/>
              </a:rPr>
              <a:t>Attribute Middleware</a:t>
            </a:r>
          </a:p>
        </p:txBody>
      </p:sp>
      <p:sp>
        <p:nvSpPr>
          <p:cNvPr id="17" name="TextBox 17"/>
          <p:cNvSpPr txBox="1"/>
          <p:nvPr/>
        </p:nvSpPr>
        <p:spPr>
          <a:xfrm>
            <a:off x="590197" y="3717998"/>
            <a:ext cx="17491375" cy="2641454"/>
          </a:xfrm>
          <a:prstGeom prst="rect">
            <a:avLst/>
          </a:prstGeom>
        </p:spPr>
        <p:txBody>
          <a:bodyPr lIns="0" tIns="0" rIns="0" bIns="0" rtlCol="0" anchor="t">
            <a:spAutoFit/>
          </a:bodyPr>
          <a:lstStyle/>
          <a:p>
            <a:pPr algn="l">
              <a:lnSpc>
                <a:spcPts val="5200"/>
              </a:lnSpc>
            </a:pPr>
            <a:r>
              <a:rPr lang="en-US" sz="3041" spc="33">
                <a:solidFill>
                  <a:srgbClr val="FFFFFF"/>
                </a:solidFill>
                <a:latin typeface="Neo Tech"/>
                <a:ea typeface="Neo Tech"/>
                <a:cs typeface="Neo Tech"/>
                <a:sym typeface="Neo Tech"/>
              </a:rPr>
              <a:t>Perubahan: Pada Laravel 12, untuk mengunci sebuah fungsi di Controller agar hanya bisa diakses oleh pengguna yang login, kita harus menuliskan kodenya secara terpisah di file rute (routes/web.php atau routes/api.php) dengan metode menyambung kode (chaining method) seperti: Route::get(...)-&gt;middleware('auth');.</a:t>
            </a:r>
          </a:p>
        </p:txBody>
      </p:sp>
      <p:sp>
        <p:nvSpPr>
          <p:cNvPr id="18" name="TextBox 18"/>
          <p:cNvSpPr txBox="1"/>
          <p:nvPr/>
        </p:nvSpPr>
        <p:spPr>
          <a:xfrm>
            <a:off x="590197" y="6616846"/>
            <a:ext cx="14808431" cy="2641454"/>
          </a:xfrm>
          <a:prstGeom prst="rect">
            <a:avLst/>
          </a:prstGeom>
        </p:spPr>
        <p:txBody>
          <a:bodyPr lIns="0" tIns="0" rIns="0" bIns="0" rtlCol="0" anchor="t">
            <a:spAutoFit/>
          </a:bodyPr>
          <a:lstStyle/>
          <a:p>
            <a:pPr algn="l">
              <a:lnSpc>
                <a:spcPts val="5200"/>
              </a:lnSpc>
            </a:pPr>
            <a:r>
              <a:rPr lang="en-US" sz="3041" spc="33">
                <a:solidFill>
                  <a:srgbClr val="FFFFFF"/>
                </a:solidFill>
                <a:latin typeface="Neo Tech"/>
                <a:ea typeface="Neo Tech"/>
                <a:cs typeface="Neo Tech"/>
                <a:sym typeface="Neo Tech"/>
              </a:rPr>
              <a:t>Improvement di Laravel 13: Laravel 13 mendukung penuh fitur Attribute Middleware bawaan PHP modern. Sekarang, kamu bisa menempelkan instruksi keamanan langsung di dalam file Controller, tepat satu baris di atas fungsi yang ingin dikunci menggunakan tanda #[Middleware('auth')].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id="10" name="TextBox 10"/>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0" y="0"/>
            <a:ext cx="18288000" cy="10287000"/>
            <a:chOff x="0" y="0"/>
            <a:chExt cx="4816593" cy="2709333"/>
          </a:xfrm>
        </p:grpSpPr>
        <p:sp>
          <p:nvSpPr>
            <p:cNvPr id="12" name="Freeform 12"/>
            <p:cNvSpPr/>
            <p:nvPr/>
          </p:nvSpPr>
          <p:spPr>
            <a:xfrm>
              <a:off x="0" y="0"/>
              <a:ext cx="4816592" cy="2709333"/>
            </a:xfrm>
            <a:custGeom>
              <a:avLst/>
              <a:gdLst/>
              <a:ahLst/>
              <a:cxnLst/>
              <a:rect l="l" t="t" r="r" b="b"/>
              <a:pathLst>
                <a:path w="4816592" h="2709333">
                  <a:moveTo>
                    <a:pt x="12700" y="0"/>
                  </a:moveTo>
                  <a:lnTo>
                    <a:pt x="4803892" y="0"/>
                  </a:lnTo>
                  <a:cubicBezTo>
                    <a:pt x="4807261" y="0"/>
                    <a:pt x="4810491" y="1338"/>
                    <a:pt x="4812873" y="3720"/>
                  </a:cubicBezTo>
                  <a:cubicBezTo>
                    <a:pt x="4815255" y="6101"/>
                    <a:pt x="4816592" y="9332"/>
                    <a:pt x="4816592" y="12700"/>
                  </a:cubicBezTo>
                  <a:lnTo>
                    <a:pt x="4816592" y="2696633"/>
                  </a:lnTo>
                  <a:cubicBezTo>
                    <a:pt x="4816592" y="2703647"/>
                    <a:pt x="4810906" y="2709333"/>
                    <a:pt x="4803892" y="2709333"/>
                  </a:cubicBezTo>
                  <a:lnTo>
                    <a:pt x="12700" y="2709333"/>
                  </a:lnTo>
                  <a:cubicBezTo>
                    <a:pt x="5686" y="2709333"/>
                    <a:pt x="0" y="2703647"/>
                    <a:pt x="0" y="2696633"/>
                  </a:cubicBezTo>
                  <a:lnTo>
                    <a:pt x="0" y="12700"/>
                  </a:lnTo>
                  <a:cubicBezTo>
                    <a:pt x="0" y="5686"/>
                    <a:pt x="5686" y="0"/>
                    <a:pt x="12700" y="0"/>
                  </a:cubicBezTo>
                  <a:close/>
                </a:path>
              </a:pathLst>
            </a:custGeom>
            <a:ln w="85725" cap="rnd">
              <a:solidFill>
                <a:srgbClr val="1EF1FF"/>
              </a:solidFill>
              <a:prstDash val="solid"/>
              <a:round/>
            </a:ln>
          </p:spPr>
        </p:sp>
        <p:sp>
          <p:nvSpPr>
            <p:cNvPr id="13" name="TextBox 13"/>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844134" y="2529566"/>
            <a:ext cx="4613051" cy="3030366"/>
          </a:xfrm>
          <a:custGeom>
            <a:avLst/>
            <a:gdLst/>
            <a:ahLst/>
            <a:cxnLst/>
            <a:rect l="l" t="t" r="r" b="b"/>
            <a:pathLst>
              <a:path w="4613051" h="3030366">
                <a:moveTo>
                  <a:pt x="0" y="0"/>
                </a:moveTo>
                <a:lnTo>
                  <a:pt x="4613051" y="0"/>
                </a:lnTo>
                <a:lnTo>
                  <a:pt x="4613051" y="3030366"/>
                </a:lnTo>
                <a:lnTo>
                  <a:pt x="0" y="3030366"/>
                </a:lnTo>
                <a:lnTo>
                  <a:pt x="0" y="0"/>
                </a:lnTo>
                <a:close/>
              </a:path>
            </a:pathLst>
          </a:custGeom>
          <a:blipFill>
            <a:blip r:embed="rId3"/>
            <a:stretch>
              <a:fillRect l="-4786"/>
            </a:stretch>
          </a:blipFill>
        </p:spPr>
      </p:sp>
      <p:sp>
        <p:nvSpPr>
          <p:cNvPr id="15" name="Freeform 15"/>
          <p:cNvSpPr/>
          <p:nvPr/>
        </p:nvSpPr>
        <p:spPr>
          <a:xfrm>
            <a:off x="6303058" y="2587602"/>
            <a:ext cx="11301259" cy="1158379"/>
          </a:xfrm>
          <a:custGeom>
            <a:avLst/>
            <a:gdLst/>
            <a:ahLst/>
            <a:cxnLst/>
            <a:rect l="l" t="t" r="r" b="b"/>
            <a:pathLst>
              <a:path w="11301259" h="1158379">
                <a:moveTo>
                  <a:pt x="0" y="0"/>
                </a:moveTo>
                <a:lnTo>
                  <a:pt x="11301259" y="0"/>
                </a:lnTo>
                <a:lnTo>
                  <a:pt x="11301259" y="1158379"/>
                </a:lnTo>
                <a:lnTo>
                  <a:pt x="0" y="1158379"/>
                </a:lnTo>
                <a:lnTo>
                  <a:pt x="0" y="0"/>
                </a:lnTo>
                <a:close/>
              </a:path>
            </a:pathLst>
          </a:custGeom>
          <a:blipFill>
            <a:blip r:embed="rId4"/>
            <a:stretch>
              <a:fillRect/>
            </a:stretch>
          </a:blipFill>
        </p:spPr>
      </p:sp>
      <p:sp>
        <p:nvSpPr>
          <p:cNvPr id="16" name="Freeform 16"/>
          <p:cNvSpPr/>
          <p:nvPr/>
        </p:nvSpPr>
        <p:spPr>
          <a:xfrm>
            <a:off x="844134" y="6723533"/>
            <a:ext cx="7222607" cy="3268230"/>
          </a:xfrm>
          <a:custGeom>
            <a:avLst/>
            <a:gdLst/>
            <a:ahLst/>
            <a:cxnLst/>
            <a:rect l="l" t="t" r="r" b="b"/>
            <a:pathLst>
              <a:path w="7222607" h="3268230">
                <a:moveTo>
                  <a:pt x="0" y="0"/>
                </a:moveTo>
                <a:lnTo>
                  <a:pt x="7222607" y="0"/>
                </a:lnTo>
                <a:lnTo>
                  <a:pt x="7222607" y="3268230"/>
                </a:lnTo>
                <a:lnTo>
                  <a:pt x="0" y="3268230"/>
                </a:lnTo>
                <a:lnTo>
                  <a:pt x="0" y="0"/>
                </a:lnTo>
                <a:close/>
              </a:path>
            </a:pathLst>
          </a:custGeom>
          <a:blipFill>
            <a:blip r:embed="rId5"/>
            <a:stretch>
              <a:fillRect/>
            </a:stretch>
          </a:blipFill>
        </p:spPr>
      </p:sp>
      <p:sp>
        <p:nvSpPr>
          <p:cNvPr id="17" name="Freeform 17"/>
          <p:cNvSpPr/>
          <p:nvPr/>
        </p:nvSpPr>
        <p:spPr>
          <a:xfrm>
            <a:off x="10183766" y="5289758"/>
            <a:ext cx="5905187" cy="4702005"/>
          </a:xfrm>
          <a:custGeom>
            <a:avLst/>
            <a:gdLst/>
            <a:ahLst/>
            <a:cxnLst/>
            <a:rect l="l" t="t" r="r" b="b"/>
            <a:pathLst>
              <a:path w="5905187" h="4702005">
                <a:moveTo>
                  <a:pt x="0" y="0"/>
                </a:moveTo>
                <a:lnTo>
                  <a:pt x="5905187" y="0"/>
                </a:lnTo>
                <a:lnTo>
                  <a:pt x="5905187" y="4702005"/>
                </a:lnTo>
                <a:lnTo>
                  <a:pt x="0" y="4702005"/>
                </a:lnTo>
                <a:lnTo>
                  <a:pt x="0" y="0"/>
                </a:lnTo>
                <a:close/>
              </a:path>
            </a:pathLst>
          </a:custGeom>
          <a:blipFill>
            <a:blip r:embed="rId6"/>
            <a:stretch>
              <a:fillRect/>
            </a:stretch>
          </a:blipFill>
        </p:spPr>
      </p:sp>
      <p:sp>
        <p:nvSpPr>
          <p:cNvPr id="18" name="TextBox 18"/>
          <p:cNvSpPr txBox="1"/>
          <p:nvPr/>
        </p:nvSpPr>
        <p:spPr>
          <a:xfrm>
            <a:off x="4948889" y="253106"/>
            <a:ext cx="7815031" cy="936978"/>
          </a:xfrm>
          <a:prstGeom prst="rect">
            <a:avLst/>
          </a:prstGeom>
        </p:spPr>
        <p:txBody>
          <a:bodyPr lIns="0" tIns="0" rIns="0" bIns="0" rtlCol="0" anchor="t">
            <a:spAutoFit/>
          </a:bodyPr>
          <a:lstStyle/>
          <a:p>
            <a:pPr algn="ctr">
              <a:lnSpc>
                <a:spcPts val="6644"/>
              </a:lnSpc>
            </a:pPr>
            <a:r>
              <a:rPr lang="en-US" sz="5191" b="1">
                <a:solidFill>
                  <a:srgbClr val="90F8FF"/>
                </a:solidFill>
                <a:latin typeface="Neo Tech Bold"/>
                <a:ea typeface="Neo Tech Bold"/>
                <a:cs typeface="Neo Tech Bold"/>
                <a:sym typeface="Neo Tech Bold"/>
              </a:rPr>
              <a:t>SCREENSHOOT  PROJECT </a:t>
            </a:r>
          </a:p>
        </p:txBody>
      </p:sp>
      <p:sp>
        <p:nvSpPr>
          <p:cNvPr id="19" name="TextBox 19"/>
          <p:cNvSpPr txBox="1"/>
          <p:nvPr/>
        </p:nvSpPr>
        <p:spPr>
          <a:xfrm>
            <a:off x="844134" y="1685912"/>
            <a:ext cx="2306525" cy="669779"/>
          </a:xfrm>
          <a:prstGeom prst="rect">
            <a:avLst/>
          </a:prstGeom>
        </p:spPr>
        <p:txBody>
          <a:bodyPr lIns="0" tIns="0" rIns="0" bIns="0" rtlCol="0" anchor="t">
            <a:spAutoFit/>
          </a:bodyPr>
          <a:lstStyle/>
          <a:p>
            <a:pPr algn="l">
              <a:lnSpc>
                <a:spcPts val="5200"/>
              </a:lnSpc>
            </a:pPr>
            <a:r>
              <a:rPr lang="en-US" sz="3041" b="1" spc="33">
                <a:solidFill>
                  <a:srgbClr val="FFFFFF"/>
                </a:solidFill>
                <a:latin typeface="Neo Tech Bold"/>
                <a:ea typeface="Neo Tech Bold"/>
                <a:cs typeface="Neo Tech Bold"/>
                <a:sym typeface="Neo Tech Bold"/>
              </a:rPr>
              <a:t>Dashboard : </a:t>
            </a:r>
          </a:p>
        </p:txBody>
      </p:sp>
      <p:sp>
        <p:nvSpPr>
          <p:cNvPr id="20" name="TextBox 20"/>
          <p:cNvSpPr txBox="1"/>
          <p:nvPr/>
        </p:nvSpPr>
        <p:spPr>
          <a:xfrm>
            <a:off x="6303058" y="1685912"/>
            <a:ext cx="2306525" cy="669779"/>
          </a:xfrm>
          <a:prstGeom prst="rect">
            <a:avLst/>
          </a:prstGeom>
        </p:spPr>
        <p:txBody>
          <a:bodyPr lIns="0" tIns="0" rIns="0" bIns="0" rtlCol="0" anchor="t">
            <a:spAutoFit/>
          </a:bodyPr>
          <a:lstStyle/>
          <a:p>
            <a:pPr algn="l">
              <a:lnSpc>
                <a:spcPts val="5200"/>
              </a:lnSpc>
            </a:pPr>
            <a:r>
              <a:rPr lang="en-US" sz="3041" b="1" spc="33">
                <a:solidFill>
                  <a:srgbClr val="FFFFFF"/>
                </a:solidFill>
                <a:latin typeface="Neo Tech Bold"/>
                <a:ea typeface="Neo Tech Bold"/>
                <a:cs typeface="Neo Tech Bold"/>
                <a:sym typeface="Neo Tech Bold"/>
              </a:rPr>
              <a:t>Api : </a:t>
            </a:r>
          </a:p>
        </p:txBody>
      </p:sp>
      <p:sp>
        <p:nvSpPr>
          <p:cNvPr id="21" name="TextBox 21"/>
          <p:cNvSpPr txBox="1"/>
          <p:nvPr/>
        </p:nvSpPr>
        <p:spPr>
          <a:xfrm>
            <a:off x="844134" y="5842520"/>
            <a:ext cx="2306525" cy="669779"/>
          </a:xfrm>
          <a:prstGeom prst="rect">
            <a:avLst/>
          </a:prstGeom>
        </p:spPr>
        <p:txBody>
          <a:bodyPr lIns="0" tIns="0" rIns="0" bIns="0" rtlCol="0" anchor="t">
            <a:spAutoFit/>
          </a:bodyPr>
          <a:lstStyle/>
          <a:p>
            <a:pPr algn="l">
              <a:lnSpc>
                <a:spcPts val="5200"/>
              </a:lnSpc>
            </a:pPr>
            <a:r>
              <a:rPr lang="en-US" sz="3041" b="1" spc="33">
                <a:solidFill>
                  <a:srgbClr val="FFFFFF"/>
                </a:solidFill>
                <a:latin typeface="Neo Tech Bold"/>
                <a:ea typeface="Neo Tech Bold"/>
                <a:cs typeface="Neo Tech Bold"/>
                <a:sym typeface="Neo Tech Bold"/>
              </a:rPr>
              <a:t>Database :</a:t>
            </a:r>
          </a:p>
        </p:txBody>
      </p:sp>
      <p:sp>
        <p:nvSpPr>
          <p:cNvPr id="22" name="TextBox 22"/>
          <p:cNvSpPr txBox="1"/>
          <p:nvPr/>
        </p:nvSpPr>
        <p:spPr>
          <a:xfrm>
            <a:off x="10183766" y="4340985"/>
            <a:ext cx="2580154" cy="669779"/>
          </a:xfrm>
          <a:prstGeom prst="rect">
            <a:avLst/>
          </a:prstGeom>
        </p:spPr>
        <p:txBody>
          <a:bodyPr lIns="0" tIns="0" rIns="0" bIns="0" rtlCol="0" anchor="t">
            <a:spAutoFit/>
          </a:bodyPr>
          <a:lstStyle/>
          <a:p>
            <a:pPr algn="l">
              <a:lnSpc>
                <a:spcPts val="5200"/>
              </a:lnSpc>
            </a:pPr>
            <a:r>
              <a:rPr lang="en-US" sz="3041" b="1" spc="33">
                <a:solidFill>
                  <a:srgbClr val="FFFFFF"/>
                </a:solidFill>
                <a:latin typeface="Neo Tech Bold"/>
                <a:ea typeface="Neo Tech Bold"/>
                <a:cs typeface="Neo Tech Bold"/>
                <a:sym typeface="Neo Tech Bold"/>
              </a:rPr>
              <a:t>Fitur Utama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id="10" name="TextBox 10"/>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969121" y="594168"/>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rot="-10800000">
            <a:off x="4123980" y="8793723"/>
            <a:ext cx="10349757" cy="869064"/>
          </a:xfrm>
          <a:custGeom>
            <a:avLst/>
            <a:gdLst/>
            <a:ahLst/>
            <a:cxnLst/>
            <a:rect l="l" t="t" r="r" b="b"/>
            <a:pathLst>
              <a:path w="10349757" h="869064">
                <a:moveTo>
                  <a:pt x="0" y="0"/>
                </a:moveTo>
                <a:lnTo>
                  <a:pt x="10349757" y="0"/>
                </a:lnTo>
                <a:lnTo>
                  <a:pt x="10349757" y="869064"/>
                </a:lnTo>
                <a:lnTo>
                  <a:pt x="0" y="869064"/>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3" name="Group 13"/>
          <p:cNvGrpSpPr/>
          <p:nvPr/>
        </p:nvGrpSpPr>
        <p:grpSpPr>
          <a:xfrm>
            <a:off x="1028700" y="314282"/>
            <a:ext cx="16230600" cy="9497085"/>
            <a:chOff x="0" y="0"/>
            <a:chExt cx="4274726" cy="2501290"/>
          </a:xfrm>
        </p:grpSpPr>
        <p:sp>
          <p:nvSpPr>
            <p:cNvPr id="14" name="Freeform 14"/>
            <p:cNvSpPr/>
            <p:nvPr/>
          </p:nvSpPr>
          <p:spPr>
            <a:xfrm>
              <a:off x="0" y="0"/>
              <a:ext cx="4274726" cy="2501290"/>
            </a:xfrm>
            <a:custGeom>
              <a:avLst/>
              <a:gdLst/>
              <a:ahLst/>
              <a:cxnLst/>
              <a:rect l="l" t="t" r="r" b="b"/>
              <a:pathLst>
                <a:path w="4274726" h="2501290">
                  <a:moveTo>
                    <a:pt x="14310" y="0"/>
                  </a:moveTo>
                  <a:lnTo>
                    <a:pt x="4260416" y="0"/>
                  </a:lnTo>
                  <a:cubicBezTo>
                    <a:pt x="4264211" y="0"/>
                    <a:pt x="4267851" y="1508"/>
                    <a:pt x="4270535" y="4191"/>
                  </a:cubicBezTo>
                  <a:cubicBezTo>
                    <a:pt x="4273218" y="6875"/>
                    <a:pt x="4274726" y="10515"/>
                    <a:pt x="4274726" y="14310"/>
                  </a:cubicBezTo>
                  <a:lnTo>
                    <a:pt x="4274726" y="2486980"/>
                  </a:lnTo>
                  <a:cubicBezTo>
                    <a:pt x="4274726" y="2490775"/>
                    <a:pt x="4273218" y="2494415"/>
                    <a:pt x="4270535" y="2497099"/>
                  </a:cubicBezTo>
                  <a:cubicBezTo>
                    <a:pt x="4267851" y="2499782"/>
                    <a:pt x="4264211" y="2501290"/>
                    <a:pt x="4260416" y="2501290"/>
                  </a:cubicBezTo>
                  <a:lnTo>
                    <a:pt x="14310" y="2501290"/>
                  </a:lnTo>
                  <a:cubicBezTo>
                    <a:pt x="10515" y="2501290"/>
                    <a:pt x="6875" y="2499782"/>
                    <a:pt x="4191" y="2497099"/>
                  </a:cubicBezTo>
                  <a:cubicBezTo>
                    <a:pt x="1508" y="2494415"/>
                    <a:pt x="0" y="2490775"/>
                    <a:pt x="0" y="2486980"/>
                  </a:cubicBezTo>
                  <a:lnTo>
                    <a:pt x="0" y="14310"/>
                  </a:lnTo>
                  <a:cubicBezTo>
                    <a:pt x="0" y="10515"/>
                    <a:pt x="1508" y="6875"/>
                    <a:pt x="4191" y="4191"/>
                  </a:cubicBezTo>
                  <a:cubicBezTo>
                    <a:pt x="6875" y="1508"/>
                    <a:pt x="10515" y="0"/>
                    <a:pt x="14310" y="0"/>
                  </a:cubicBezTo>
                  <a:close/>
                </a:path>
              </a:pathLst>
            </a:custGeom>
            <a:ln w="85725" cap="rnd">
              <a:solidFill>
                <a:srgbClr val="1EF1FF"/>
              </a:solidFill>
              <a:prstDash val="solid"/>
              <a:round/>
            </a:ln>
          </p:spPr>
        </p:sp>
        <p:sp>
          <p:nvSpPr>
            <p:cNvPr id="15" name="TextBox 15"/>
            <p:cNvSpPr txBox="1"/>
            <p:nvPr/>
          </p:nvSpPr>
          <p:spPr>
            <a:xfrm>
              <a:off x="0" y="-38100"/>
              <a:ext cx="4274726" cy="2539390"/>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6945860" y="1585650"/>
            <a:ext cx="4396280" cy="936978"/>
          </a:xfrm>
          <a:prstGeom prst="rect">
            <a:avLst/>
          </a:prstGeom>
        </p:spPr>
        <p:txBody>
          <a:bodyPr lIns="0" tIns="0" rIns="0" bIns="0" rtlCol="0" anchor="t">
            <a:spAutoFit/>
          </a:bodyPr>
          <a:lstStyle/>
          <a:p>
            <a:pPr algn="ctr">
              <a:lnSpc>
                <a:spcPts val="6644"/>
              </a:lnSpc>
            </a:pPr>
            <a:r>
              <a:rPr lang="en-US" sz="5191" b="1">
                <a:solidFill>
                  <a:srgbClr val="90F8FF"/>
                </a:solidFill>
                <a:latin typeface="Neo Tech Bold"/>
                <a:ea typeface="Neo Tech Bold"/>
                <a:cs typeface="Neo Tech Bold"/>
                <a:sym typeface="Neo Tech Bold"/>
              </a:rPr>
              <a:t>KESIMPULAN </a:t>
            </a:r>
          </a:p>
        </p:txBody>
      </p:sp>
      <p:sp>
        <p:nvSpPr>
          <p:cNvPr id="17" name="Freeform 17"/>
          <p:cNvSpPr/>
          <p:nvPr/>
        </p:nvSpPr>
        <p:spPr>
          <a:xfrm>
            <a:off x="2863064" y="1964079"/>
            <a:ext cx="3507719" cy="242352"/>
          </a:xfrm>
          <a:custGeom>
            <a:avLst/>
            <a:gdLst/>
            <a:ahLst/>
            <a:cxnLst/>
            <a:rect l="l" t="t" r="r" b="b"/>
            <a:pathLst>
              <a:path w="3507719" h="242352">
                <a:moveTo>
                  <a:pt x="0" y="0"/>
                </a:moveTo>
                <a:lnTo>
                  <a:pt x="3507720" y="0"/>
                </a:lnTo>
                <a:lnTo>
                  <a:pt x="3507720" y="242351"/>
                </a:lnTo>
                <a:lnTo>
                  <a:pt x="0" y="24235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8" name="Freeform 18"/>
          <p:cNvSpPr/>
          <p:nvPr/>
        </p:nvSpPr>
        <p:spPr>
          <a:xfrm flipH="1">
            <a:off x="11762357" y="1964079"/>
            <a:ext cx="3507719" cy="242352"/>
          </a:xfrm>
          <a:custGeom>
            <a:avLst/>
            <a:gdLst/>
            <a:ahLst/>
            <a:cxnLst/>
            <a:rect l="l" t="t" r="r" b="b"/>
            <a:pathLst>
              <a:path w="3507719" h="242352">
                <a:moveTo>
                  <a:pt x="3507720" y="0"/>
                </a:moveTo>
                <a:lnTo>
                  <a:pt x="0" y="0"/>
                </a:lnTo>
                <a:lnTo>
                  <a:pt x="0" y="242351"/>
                </a:lnTo>
                <a:lnTo>
                  <a:pt x="3507720" y="242351"/>
                </a:lnTo>
                <a:lnTo>
                  <a:pt x="3507720" y="0"/>
                </a:lnTo>
                <a:close/>
              </a:path>
            </a:pathLst>
          </a:custGeom>
          <a:blipFill>
            <a:blip>
              <a:extLst>
                <a:ext uri="{96DAC541-7B7A-43D3-8B79-37D633B846F1}">
                  <asvg:svgBlip xmlns:asvg="http://schemas.microsoft.com/office/drawing/2016/SVG/main" r:embed="rId4"/>
                </a:ext>
              </a:extLst>
            </a:blip>
            <a:stretch>
              <a:fillRect/>
            </a:stretch>
          </a:blipFill>
        </p:spPr>
      </p:sp>
      <p:sp>
        <p:nvSpPr>
          <p:cNvPr id="19" name="TextBox 19"/>
          <p:cNvSpPr txBox="1"/>
          <p:nvPr/>
        </p:nvSpPr>
        <p:spPr>
          <a:xfrm>
            <a:off x="1873313" y="3470799"/>
            <a:ext cx="14386512" cy="1438656"/>
          </a:xfrm>
          <a:prstGeom prst="rect">
            <a:avLst/>
          </a:prstGeom>
        </p:spPr>
        <p:txBody>
          <a:bodyPr lIns="0" tIns="0" rIns="0" bIns="0" rtlCol="0" anchor="t">
            <a:spAutoFit/>
          </a:bodyPr>
          <a:lstStyle/>
          <a:p>
            <a:pPr algn="l">
              <a:lnSpc>
                <a:spcPts val="3761"/>
              </a:lnSpc>
            </a:pPr>
            <a:r>
              <a:rPr lang="en-US" sz="2199" spc="24">
                <a:solidFill>
                  <a:srgbClr val="FFFFFF"/>
                </a:solidFill>
                <a:latin typeface="Neo Tech"/>
                <a:ea typeface="Neo Tech"/>
                <a:cs typeface="Neo Tech"/>
                <a:sym typeface="Neo Tech"/>
              </a:rPr>
              <a:t>Koding Berbasis Efisiensi: Berhasil mempelajari cara mengintegrasikan logika bisnis sekolah (CRUD siswa dan sistem presensi harian) menggunakan arsitektur modern Laravel 13 yang jauh lebih bersih (Less Code, More Power).</a:t>
            </a:r>
          </a:p>
        </p:txBody>
      </p:sp>
      <p:sp>
        <p:nvSpPr>
          <p:cNvPr id="20" name="TextBox 20"/>
          <p:cNvSpPr txBox="1"/>
          <p:nvPr/>
        </p:nvSpPr>
        <p:spPr>
          <a:xfrm>
            <a:off x="1873313" y="2686720"/>
            <a:ext cx="4162534" cy="669779"/>
          </a:xfrm>
          <a:prstGeom prst="rect">
            <a:avLst/>
          </a:prstGeom>
        </p:spPr>
        <p:txBody>
          <a:bodyPr lIns="0" tIns="0" rIns="0" bIns="0" rtlCol="0" anchor="t">
            <a:spAutoFit/>
          </a:bodyPr>
          <a:lstStyle/>
          <a:p>
            <a:pPr algn="l">
              <a:lnSpc>
                <a:spcPts val="5200"/>
              </a:lnSpc>
            </a:pPr>
            <a:r>
              <a:rPr lang="en-US" sz="3041" b="1" spc="33">
                <a:solidFill>
                  <a:srgbClr val="FFFFFF"/>
                </a:solidFill>
                <a:latin typeface="Neo Tech Bold"/>
                <a:ea typeface="Neo Tech Bold"/>
                <a:cs typeface="Neo Tech Bold"/>
                <a:sym typeface="Neo Tech Bold"/>
              </a:rPr>
              <a:t>Apa yang dipelajari :</a:t>
            </a:r>
          </a:p>
        </p:txBody>
      </p:sp>
      <p:sp>
        <p:nvSpPr>
          <p:cNvPr id="21" name="TextBox 21"/>
          <p:cNvSpPr txBox="1"/>
          <p:nvPr/>
        </p:nvSpPr>
        <p:spPr>
          <a:xfrm>
            <a:off x="1873313" y="4853275"/>
            <a:ext cx="1883607" cy="669779"/>
          </a:xfrm>
          <a:prstGeom prst="rect">
            <a:avLst/>
          </a:prstGeom>
        </p:spPr>
        <p:txBody>
          <a:bodyPr lIns="0" tIns="0" rIns="0" bIns="0" rtlCol="0" anchor="t">
            <a:spAutoFit/>
          </a:bodyPr>
          <a:lstStyle/>
          <a:p>
            <a:pPr algn="l">
              <a:lnSpc>
                <a:spcPts val="5200"/>
              </a:lnSpc>
            </a:pPr>
            <a:r>
              <a:rPr lang="en-US" sz="3041" b="1" spc="33">
                <a:solidFill>
                  <a:srgbClr val="FFFFFF"/>
                </a:solidFill>
                <a:latin typeface="Neo Tech Bold"/>
                <a:ea typeface="Neo Tech Bold"/>
                <a:cs typeface="Neo Tech Bold"/>
                <a:sym typeface="Neo Tech Bold"/>
              </a:rPr>
              <a:t>Kendala : </a:t>
            </a:r>
          </a:p>
        </p:txBody>
      </p:sp>
      <p:sp>
        <p:nvSpPr>
          <p:cNvPr id="22" name="TextBox 22"/>
          <p:cNvSpPr txBox="1"/>
          <p:nvPr/>
        </p:nvSpPr>
        <p:spPr>
          <a:xfrm>
            <a:off x="1873313" y="5637353"/>
            <a:ext cx="14386512" cy="962406"/>
          </a:xfrm>
          <a:prstGeom prst="rect">
            <a:avLst/>
          </a:prstGeom>
        </p:spPr>
        <p:txBody>
          <a:bodyPr lIns="0" tIns="0" rIns="0" bIns="0" rtlCol="0" anchor="t">
            <a:spAutoFit/>
          </a:bodyPr>
          <a:lstStyle/>
          <a:p>
            <a:pPr algn="l">
              <a:lnSpc>
                <a:spcPts val="3761"/>
              </a:lnSpc>
            </a:pPr>
            <a:r>
              <a:rPr lang="en-US" sz="2199" spc="24">
                <a:solidFill>
                  <a:srgbClr val="FFFFFF"/>
                </a:solidFill>
                <a:latin typeface="Neo Tech"/>
                <a:ea typeface="Neo Tech"/>
                <a:cs typeface="Neo Tech"/>
                <a:sym typeface="Neo Tech"/>
              </a:rPr>
              <a:t>Manajemen Error pada Jalur API: Menghindari risiko crash pada aplikasi eksternal di masa depan jika rute API keliru mengembalikan respon mentah dalam bentuk dokumen HTML saat terjadi kegagalan sistem.</a:t>
            </a:r>
          </a:p>
        </p:txBody>
      </p:sp>
      <p:sp>
        <p:nvSpPr>
          <p:cNvPr id="23" name="TextBox 23"/>
          <p:cNvSpPr txBox="1"/>
          <p:nvPr/>
        </p:nvSpPr>
        <p:spPr>
          <a:xfrm>
            <a:off x="1873313" y="6656909"/>
            <a:ext cx="2572589" cy="669779"/>
          </a:xfrm>
          <a:prstGeom prst="rect">
            <a:avLst/>
          </a:prstGeom>
        </p:spPr>
        <p:txBody>
          <a:bodyPr lIns="0" tIns="0" rIns="0" bIns="0" rtlCol="0" anchor="t">
            <a:spAutoFit/>
          </a:bodyPr>
          <a:lstStyle/>
          <a:p>
            <a:pPr algn="l">
              <a:lnSpc>
                <a:spcPts val="5200"/>
              </a:lnSpc>
            </a:pPr>
            <a:r>
              <a:rPr lang="en-US" sz="3041" b="1" spc="33">
                <a:solidFill>
                  <a:srgbClr val="FFFFFF"/>
                </a:solidFill>
                <a:latin typeface="Neo Tech Bold"/>
                <a:ea typeface="Neo Tech Bold"/>
                <a:cs typeface="Neo Tech Bold"/>
                <a:sym typeface="Neo Tech Bold"/>
              </a:rPr>
              <a:t>Insight Baru :</a:t>
            </a:r>
          </a:p>
        </p:txBody>
      </p:sp>
      <p:sp>
        <p:nvSpPr>
          <p:cNvPr id="24" name="TextBox 24"/>
          <p:cNvSpPr txBox="1"/>
          <p:nvPr/>
        </p:nvSpPr>
        <p:spPr>
          <a:xfrm>
            <a:off x="1873313" y="7326688"/>
            <a:ext cx="14386512" cy="962406"/>
          </a:xfrm>
          <a:prstGeom prst="rect">
            <a:avLst/>
          </a:prstGeom>
        </p:spPr>
        <p:txBody>
          <a:bodyPr lIns="0" tIns="0" rIns="0" bIns="0" rtlCol="0" anchor="t">
            <a:spAutoFit/>
          </a:bodyPr>
          <a:lstStyle/>
          <a:p>
            <a:pPr algn="l">
              <a:lnSpc>
                <a:spcPts val="3761"/>
              </a:lnSpc>
            </a:pPr>
            <a:r>
              <a:rPr lang="en-US" sz="2199" spc="24">
                <a:solidFill>
                  <a:srgbClr val="FFFFFF"/>
                </a:solidFill>
                <a:latin typeface="Neo Tech"/>
                <a:ea typeface="Neo Tech"/>
                <a:cs typeface="Neo Tech"/>
                <a:sym typeface="Neo Tech"/>
              </a:rPr>
              <a:t>Solusi Performa lewat Queue System: Menemukan bahwa fungsi pencatatan log yang membebani server bisa diselesaikan dengan sangat instan lewat perintah LogSiswaBaru::dispatch(), membuat web tetap ringan.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grpSp>
        <p:nvGrpSpPr>
          <p:cNvPr id="2" name="Group 2"/>
          <p:cNvGrpSpPr/>
          <p:nvPr/>
        </p:nvGrpSpPr>
        <p:grpSpPr>
          <a:xfrm>
            <a:off x="0" y="-95158"/>
            <a:ext cx="18288000" cy="10382158"/>
            <a:chOff x="0" y="0"/>
            <a:chExt cx="4816593" cy="2734396"/>
          </a:xfrm>
        </p:grpSpPr>
        <p:sp>
          <p:nvSpPr>
            <p:cNvPr id="3" name="Freeform 3"/>
            <p:cNvSpPr/>
            <p:nvPr/>
          </p:nvSpPr>
          <p:spPr>
            <a:xfrm>
              <a:off x="0" y="0"/>
              <a:ext cx="4816592" cy="2734395"/>
            </a:xfrm>
            <a:custGeom>
              <a:avLst/>
              <a:gdLst/>
              <a:ahLst/>
              <a:cxnLst/>
              <a:rect l="l" t="t" r="r" b="b"/>
              <a:pathLst>
                <a:path w="4816592" h="2734395">
                  <a:moveTo>
                    <a:pt x="12700" y="0"/>
                  </a:moveTo>
                  <a:lnTo>
                    <a:pt x="4803892" y="0"/>
                  </a:lnTo>
                  <a:cubicBezTo>
                    <a:pt x="4807261" y="0"/>
                    <a:pt x="4810491" y="1338"/>
                    <a:pt x="4812873" y="3720"/>
                  </a:cubicBezTo>
                  <a:cubicBezTo>
                    <a:pt x="4815255" y="6101"/>
                    <a:pt x="4816592" y="9332"/>
                    <a:pt x="4816592" y="12700"/>
                  </a:cubicBezTo>
                  <a:lnTo>
                    <a:pt x="4816592" y="2721695"/>
                  </a:lnTo>
                  <a:cubicBezTo>
                    <a:pt x="4816592" y="2728710"/>
                    <a:pt x="4810906" y="2734395"/>
                    <a:pt x="4803892" y="2734395"/>
                  </a:cubicBezTo>
                  <a:lnTo>
                    <a:pt x="12700" y="2734395"/>
                  </a:lnTo>
                  <a:cubicBezTo>
                    <a:pt x="5686" y="2734395"/>
                    <a:pt x="0" y="2728710"/>
                    <a:pt x="0" y="2721695"/>
                  </a:cubicBezTo>
                  <a:lnTo>
                    <a:pt x="0" y="12700"/>
                  </a:lnTo>
                  <a:cubicBezTo>
                    <a:pt x="0" y="5686"/>
                    <a:pt x="5686" y="0"/>
                    <a:pt x="12700" y="0"/>
                  </a:cubicBezTo>
                  <a:close/>
                </a:path>
              </a:pathLst>
            </a:custGeom>
            <a:ln w="85725" cap="rnd">
              <a:solidFill>
                <a:srgbClr val="1EF1FF"/>
              </a:solidFill>
              <a:prstDash val="solid"/>
              <a:round/>
            </a:ln>
          </p:spPr>
        </p:sp>
        <p:sp>
          <p:nvSpPr>
            <p:cNvPr id="4" name="TextBox 4"/>
            <p:cNvSpPr txBox="1"/>
            <p:nvPr/>
          </p:nvSpPr>
          <p:spPr>
            <a:xfrm>
              <a:off x="0" y="-38100"/>
              <a:ext cx="4816593" cy="2772496"/>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73200" y="4922556"/>
            <a:ext cx="6690085" cy="5043999"/>
          </a:xfrm>
          <a:custGeom>
            <a:avLst/>
            <a:gdLst/>
            <a:ahLst/>
            <a:cxnLst/>
            <a:rect l="l" t="t" r="r" b="b"/>
            <a:pathLst>
              <a:path w="6690085" h="5043999">
                <a:moveTo>
                  <a:pt x="0" y="0"/>
                </a:moveTo>
                <a:lnTo>
                  <a:pt x="6690086" y="0"/>
                </a:lnTo>
                <a:lnTo>
                  <a:pt x="6690086" y="5043999"/>
                </a:lnTo>
                <a:lnTo>
                  <a:pt x="0" y="5043999"/>
                </a:lnTo>
                <a:lnTo>
                  <a:pt x="0" y="0"/>
                </a:lnTo>
                <a:close/>
              </a:path>
            </a:pathLst>
          </a:custGeom>
          <a:blipFill>
            <a:blip r:embed="rId2"/>
            <a:stretch>
              <a:fillRect l="-10411" t="-1426" b="-1426"/>
            </a:stretch>
          </a:blipFill>
        </p:spPr>
      </p:sp>
      <p:sp>
        <p:nvSpPr>
          <p:cNvPr id="6" name="Freeform 6"/>
          <p:cNvSpPr/>
          <p:nvPr/>
        </p:nvSpPr>
        <p:spPr>
          <a:xfrm>
            <a:off x="9554080" y="3077202"/>
            <a:ext cx="6402681" cy="4367354"/>
          </a:xfrm>
          <a:custGeom>
            <a:avLst/>
            <a:gdLst/>
            <a:ahLst/>
            <a:cxnLst/>
            <a:rect l="l" t="t" r="r" b="b"/>
            <a:pathLst>
              <a:path w="6402681" h="4367354">
                <a:moveTo>
                  <a:pt x="0" y="0"/>
                </a:moveTo>
                <a:lnTo>
                  <a:pt x="6402681" y="0"/>
                </a:lnTo>
                <a:lnTo>
                  <a:pt x="6402681" y="4367354"/>
                </a:lnTo>
                <a:lnTo>
                  <a:pt x="0" y="4367354"/>
                </a:lnTo>
                <a:lnTo>
                  <a:pt x="0" y="0"/>
                </a:lnTo>
                <a:close/>
              </a:path>
            </a:pathLst>
          </a:custGeom>
          <a:blipFill>
            <a:blip r:embed="rId3"/>
            <a:stretch>
              <a:fillRect l="-4481" t="-5" b="-5"/>
            </a:stretch>
          </a:blipFill>
        </p:spPr>
      </p:sp>
      <p:sp>
        <p:nvSpPr>
          <p:cNvPr id="7" name="TextBox 7"/>
          <p:cNvSpPr txBox="1"/>
          <p:nvPr/>
        </p:nvSpPr>
        <p:spPr>
          <a:xfrm>
            <a:off x="0" y="2877177"/>
            <a:ext cx="8903919" cy="658015"/>
          </a:xfrm>
          <a:prstGeom prst="rect">
            <a:avLst/>
          </a:prstGeom>
        </p:spPr>
        <p:txBody>
          <a:bodyPr lIns="0" tIns="0" rIns="0" bIns="0" rtlCol="0" anchor="t">
            <a:spAutoFit/>
          </a:bodyPr>
          <a:lstStyle/>
          <a:p>
            <a:pPr algn="ctr">
              <a:lnSpc>
                <a:spcPts val="5175"/>
              </a:lnSpc>
              <a:spcBef>
                <a:spcPct val="0"/>
              </a:spcBef>
            </a:pPr>
            <a:r>
              <a:rPr lang="en-US" sz="3026" b="1" spc="33">
                <a:solidFill>
                  <a:srgbClr val="FFFFFF"/>
                </a:solidFill>
                <a:latin typeface="Neo Tech Bold"/>
                <a:ea typeface="Neo Tech Bold"/>
                <a:cs typeface="Neo Tech Bold"/>
                <a:sym typeface="Neo Tech Bold"/>
              </a:rPr>
              <a:t>https://github.com/Hafiz2009/Laravel_13</a:t>
            </a:r>
          </a:p>
        </p:txBody>
      </p:sp>
      <p:sp>
        <p:nvSpPr>
          <p:cNvPr id="8" name="TextBox 8"/>
          <p:cNvSpPr txBox="1"/>
          <p:nvPr/>
        </p:nvSpPr>
        <p:spPr>
          <a:xfrm>
            <a:off x="440464" y="2217227"/>
            <a:ext cx="4443174" cy="669779"/>
          </a:xfrm>
          <a:prstGeom prst="rect">
            <a:avLst/>
          </a:prstGeom>
        </p:spPr>
        <p:txBody>
          <a:bodyPr lIns="0" tIns="0" rIns="0" bIns="0" rtlCol="0" anchor="t">
            <a:spAutoFit/>
          </a:bodyPr>
          <a:lstStyle/>
          <a:p>
            <a:pPr algn="ctr">
              <a:lnSpc>
                <a:spcPts val="5200"/>
              </a:lnSpc>
              <a:spcBef>
                <a:spcPct val="0"/>
              </a:spcBef>
            </a:pPr>
            <a:r>
              <a:rPr lang="en-US" sz="3041" b="1" spc="33">
                <a:solidFill>
                  <a:srgbClr val="FFFFFF"/>
                </a:solidFill>
                <a:latin typeface="Neo Tech Bold"/>
                <a:ea typeface="Neo Tech Bold"/>
                <a:cs typeface="Neo Tech Bold"/>
                <a:sym typeface="Neo Tech Bold"/>
              </a:rPr>
              <a:t>Link repository GitHub :</a:t>
            </a:r>
          </a:p>
        </p:txBody>
      </p:sp>
      <p:sp>
        <p:nvSpPr>
          <p:cNvPr id="9" name="TextBox 9"/>
          <p:cNvSpPr txBox="1"/>
          <p:nvPr/>
        </p:nvSpPr>
        <p:spPr>
          <a:xfrm>
            <a:off x="5215925" y="349250"/>
            <a:ext cx="7856150" cy="679450"/>
          </a:xfrm>
          <a:prstGeom prst="rect">
            <a:avLst/>
          </a:prstGeom>
        </p:spPr>
        <p:txBody>
          <a:bodyPr lIns="0" tIns="0" rIns="0" bIns="0" rtlCol="0" anchor="t">
            <a:spAutoFit/>
          </a:bodyPr>
          <a:lstStyle/>
          <a:p>
            <a:pPr algn="ctr">
              <a:lnSpc>
                <a:spcPts val="5599"/>
              </a:lnSpc>
            </a:pPr>
            <a:r>
              <a:rPr lang="en-US" sz="3999" b="1">
                <a:solidFill>
                  <a:srgbClr val="FFFFFF"/>
                </a:solidFill>
                <a:latin typeface="Open Sans Bold"/>
                <a:ea typeface="Open Sans Bold"/>
                <a:cs typeface="Open Sans Bold"/>
                <a:sym typeface="Open Sans Bold"/>
              </a:rPr>
              <a:t>Link Github Repository </a:t>
            </a:r>
          </a:p>
        </p:txBody>
      </p:sp>
      <p:sp>
        <p:nvSpPr>
          <p:cNvPr id="10" name="TextBox 10"/>
          <p:cNvSpPr txBox="1"/>
          <p:nvPr/>
        </p:nvSpPr>
        <p:spPr>
          <a:xfrm>
            <a:off x="388136" y="4062278"/>
            <a:ext cx="4360902" cy="669779"/>
          </a:xfrm>
          <a:prstGeom prst="rect">
            <a:avLst/>
          </a:prstGeom>
        </p:spPr>
        <p:txBody>
          <a:bodyPr lIns="0" tIns="0" rIns="0" bIns="0" rtlCol="0" anchor="t">
            <a:spAutoFit/>
          </a:bodyPr>
          <a:lstStyle/>
          <a:p>
            <a:pPr algn="ctr">
              <a:lnSpc>
                <a:spcPts val="5200"/>
              </a:lnSpc>
              <a:spcBef>
                <a:spcPct val="0"/>
              </a:spcBef>
            </a:pPr>
            <a:r>
              <a:rPr lang="en-US" sz="3041" b="1" spc="33">
                <a:solidFill>
                  <a:srgbClr val="FFFFFF"/>
                </a:solidFill>
                <a:latin typeface="Neo Tech Bold"/>
                <a:ea typeface="Neo Tech Bold"/>
                <a:cs typeface="Neo Tech Bold"/>
                <a:sym typeface="Neo Tech Bold"/>
              </a:rPr>
              <a:t>Screenshot repository :</a:t>
            </a:r>
          </a:p>
        </p:txBody>
      </p:sp>
      <p:sp>
        <p:nvSpPr>
          <p:cNvPr id="11" name="TextBox 11"/>
          <p:cNvSpPr txBox="1"/>
          <p:nvPr/>
        </p:nvSpPr>
        <p:spPr>
          <a:xfrm>
            <a:off x="9144000" y="2217227"/>
            <a:ext cx="3183612" cy="669779"/>
          </a:xfrm>
          <a:prstGeom prst="rect">
            <a:avLst/>
          </a:prstGeom>
        </p:spPr>
        <p:txBody>
          <a:bodyPr lIns="0" tIns="0" rIns="0" bIns="0" rtlCol="0" anchor="t">
            <a:spAutoFit/>
          </a:bodyPr>
          <a:lstStyle/>
          <a:p>
            <a:pPr algn="ctr">
              <a:lnSpc>
                <a:spcPts val="5200"/>
              </a:lnSpc>
              <a:spcBef>
                <a:spcPct val="0"/>
              </a:spcBef>
            </a:pPr>
            <a:r>
              <a:rPr lang="en-US" sz="3041" b="1" spc="33">
                <a:solidFill>
                  <a:srgbClr val="FFFFFF"/>
                </a:solidFill>
                <a:latin typeface="Neo Tech Bold"/>
                <a:ea typeface="Neo Tech Bold"/>
                <a:cs typeface="Neo Tech Bold"/>
                <a:sym typeface="Neo Tech Bold"/>
              </a:rPr>
              <a:t>Struktur project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9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9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8" name="Freeform 8"/>
          <p:cNvSpPr/>
          <p:nvPr/>
        </p:nvSpPr>
        <p:spPr>
          <a:xfrm>
            <a:off x="1729946" y="1028700"/>
            <a:ext cx="14828108" cy="8229600"/>
          </a:xfrm>
          <a:custGeom>
            <a:avLst/>
            <a:gdLst/>
            <a:ahLst/>
            <a:cxnLst/>
            <a:rect l="l" t="t" r="r" b="b"/>
            <a:pathLst>
              <a:path w="14828108" h="8229600">
                <a:moveTo>
                  <a:pt x="0" y="0"/>
                </a:moveTo>
                <a:lnTo>
                  <a:pt x="14828108" y="0"/>
                </a:lnTo>
                <a:lnTo>
                  <a:pt x="14828108" y="8229600"/>
                </a:lnTo>
                <a:lnTo>
                  <a:pt x="0" y="82296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a:off x="-471355" y="7684325"/>
            <a:ext cx="3731115" cy="2957757"/>
          </a:xfrm>
          <a:custGeom>
            <a:avLst/>
            <a:gdLst/>
            <a:ahLst/>
            <a:cxnLst/>
            <a:rect l="l" t="t" r="r" b="b"/>
            <a:pathLst>
              <a:path w="3731115" h="2957757">
                <a:moveTo>
                  <a:pt x="0" y="0"/>
                </a:moveTo>
                <a:lnTo>
                  <a:pt x="3731115" y="0"/>
                </a:lnTo>
                <a:lnTo>
                  <a:pt x="3731115" y="2957757"/>
                </a:lnTo>
                <a:lnTo>
                  <a:pt x="0" y="295775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0" name="Freeform 10"/>
          <p:cNvSpPr/>
          <p:nvPr/>
        </p:nvSpPr>
        <p:spPr>
          <a:xfrm flipH="1">
            <a:off x="15604847" y="-832180"/>
            <a:ext cx="3396344" cy="2692375"/>
          </a:xfrm>
          <a:custGeom>
            <a:avLst/>
            <a:gdLst/>
            <a:ahLst/>
            <a:cxnLst/>
            <a:rect l="l" t="t" r="r" b="b"/>
            <a:pathLst>
              <a:path w="3396344" h="2692375">
                <a:moveTo>
                  <a:pt x="3396345" y="0"/>
                </a:moveTo>
                <a:lnTo>
                  <a:pt x="0" y="0"/>
                </a:lnTo>
                <a:lnTo>
                  <a:pt x="0" y="2692375"/>
                </a:lnTo>
                <a:lnTo>
                  <a:pt x="3396345" y="2692375"/>
                </a:lnTo>
                <a:lnTo>
                  <a:pt x="3396345"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AutoShape 11"/>
          <p:cNvSpPr/>
          <p:nvPr/>
        </p:nvSpPr>
        <p:spPr>
          <a:xfrm flipV="1">
            <a:off x="4030157" y="2618302"/>
            <a:ext cx="10227686" cy="0"/>
          </a:xfrm>
          <a:prstGeom prst="line">
            <a:avLst/>
          </a:prstGeom>
          <a:ln w="38100" cap="flat">
            <a:solidFill>
              <a:srgbClr val="FFFFFF"/>
            </a:solidFill>
            <a:prstDash val="solid"/>
            <a:headEnd type="none" w="sm" len="sm"/>
            <a:tailEnd type="none" w="sm" len="sm"/>
          </a:ln>
        </p:spPr>
      </p:sp>
      <p:sp>
        <p:nvSpPr>
          <p:cNvPr id="12" name="Freeform 12"/>
          <p:cNvSpPr/>
          <p:nvPr/>
        </p:nvSpPr>
        <p:spPr>
          <a:xfrm>
            <a:off x="3259760" y="6378821"/>
            <a:ext cx="2242799" cy="1529181"/>
          </a:xfrm>
          <a:custGeom>
            <a:avLst/>
            <a:gdLst/>
            <a:ahLst/>
            <a:cxnLst/>
            <a:rect l="l" t="t" r="r" b="b"/>
            <a:pathLst>
              <a:path w="2242799" h="1529181">
                <a:moveTo>
                  <a:pt x="0" y="0"/>
                </a:moveTo>
                <a:lnTo>
                  <a:pt x="2242799" y="0"/>
                </a:lnTo>
                <a:lnTo>
                  <a:pt x="2242799" y="1529181"/>
                </a:lnTo>
                <a:lnTo>
                  <a:pt x="0" y="152918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Freeform 13"/>
          <p:cNvSpPr/>
          <p:nvPr/>
        </p:nvSpPr>
        <p:spPr>
          <a:xfrm>
            <a:off x="12781048" y="6378821"/>
            <a:ext cx="2242799" cy="1529181"/>
          </a:xfrm>
          <a:custGeom>
            <a:avLst/>
            <a:gdLst/>
            <a:ahLst/>
            <a:cxnLst/>
            <a:rect l="l" t="t" r="r" b="b"/>
            <a:pathLst>
              <a:path w="2242799" h="1529181">
                <a:moveTo>
                  <a:pt x="0" y="0"/>
                </a:moveTo>
                <a:lnTo>
                  <a:pt x="2242800" y="0"/>
                </a:lnTo>
                <a:lnTo>
                  <a:pt x="2242800" y="1529181"/>
                </a:lnTo>
                <a:lnTo>
                  <a:pt x="0" y="152918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5062878" y="3006667"/>
            <a:ext cx="8162244" cy="3230627"/>
          </a:xfrm>
          <a:prstGeom prst="rect">
            <a:avLst/>
          </a:prstGeom>
        </p:spPr>
        <p:txBody>
          <a:bodyPr lIns="0" tIns="0" rIns="0" bIns="0" rtlCol="0" anchor="t">
            <a:spAutoFit/>
          </a:bodyPr>
          <a:lstStyle/>
          <a:p>
            <a:pPr algn="ctr">
              <a:lnSpc>
                <a:spcPts val="12087"/>
              </a:lnSpc>
            </a:pPr>
            <a:r>
              <a:rPr lang="en-US" sz="9443" b="1">
                <a:solidFill>
                  <a:srgbClr val="1EF1FF"/>
                </a:solidFill>
                <a:latin typeface="Neo Tech Bold"/>
                <a:ea typeface="Neo Tech Bold"/>
                <a:cs typeface="Neo Tech Bold"/>
                <a:sym typeface="Neo Tech Bold"/>
              </a:rPr>
              <a:t>SEKIAN</a:t>
            </a:r>
          </a:p>
          <a:p>
            <a:pPr algn="ctr">
              <a:lnSpc>
                <a:spcPts val="12087"/>
              </a:lnSpc>
            </a:pPr>
            <a:r>
              <a:rPr lang="en-US" sz="9443" b="1">
                <a:solidFill>
                  <a:srgbClr val="1EF1FF"/>
                </a:solidFill>
                <a:latin typeface="Neo Tech Bold"/>
                <a:ea typeface="Neo Tech Bold"/>
                <a:cs typeface="Neo Tech Bold"/>
                <a:sym typeface="Neo Tech Bold"/>
              </a:rPr>
              <a:t>TERIMAKASIH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962</Words>
  <Application>Microsoft Office PowerPoint</Application>
  <PresentationFormat>Custom</PresentationFormat>
  <Paragraphs>74</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vt:lpstr>
      <vt:lpstr>Neo Tech</vt:lpstr>
      <vt:lpstr>Open Sans Bold</vt:lpstr>
      <vt:lpstr>Arial</vt:lpstr>
      <vt:lpstr>Neo Tech Bold</vt:lpstr>
      <vt:lpstr>Neo Tech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laravel 13</dc:title>
  <dc:creator>Hafiz20</dc:creator>
  <cp:lastModifiedBy>Hafiz 2009</cp:lastModifiedBy>
  <cp:revision>2</cp:revision>
  <dcterms:created xsi:type="dcterms:W3CDTF">2006-08-16T00:00:00Z</dcterms:created>
  <dcterms:modified xsi:type="dcterms:W3CDTF">2026-05-29T01:06:17Z</dcterms:modified>
  <dc:identifier>DAHKFi36ihw</dc:identifier>
</cp:coreProperties>
</file>