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ns Bold" charset="1" panose="020B0806030504020204"/>
      <p:regular r:id="rId18"/>
    </p:embeddedFont>
    <p:embeddedFont>
      <p:font typeface="Neo Tech Bold" charset="1" panose="020B0804030504040204"/>
      <p:regular r:id="rId19"/>
    </p:embeddedFont>
    <p:embeddedFont>
      <p:font typeface="Neo Tech" charset="1" panose="020B0504030504040204"/>
      <p:regular r:id="rId20"/>
    </p:embeddedFont>
    <p:embeddedFont>
      <p:font typeface="Neo Tech Light" charset="1" panose="020B030403050404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8" id="8"/>
          <p:cNvSpPr/>
          <p:nvPr/>
        </p:nvSpPr>
        <p:spPr>
          <a:xfrm flipH="false" flipV="false" rot="0">
            <a:off x="1729946" y="1028700"/>
            <a:ext cx="14828108" cy="8229600"/>
          </a:xfrm>
          <a:custGeom>
            <a:avLst/>
            <a:gdLst/>
            <a:ahLst/>
            <a:cxnLst/>
            <a:rect r="r" b="b" t="t" l="l"/>
            <a:pathLst>
              <a:path h="8229600" w="14828108">
                <a:moveTo>
                  <a:pt x="0" y="0"/>
                </a:moveTo>
                <a:lnTo>
                  <a:pt x="14828108" y="0"/>
                </a:lnTo>
                <a:lnTo>
                  <a:pt x="148281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71355" y="7684325"/>
            <a:ext cx="3731115" cy="2957757"/>
          </a:xfrm>
          <a:custGeom>
            <a:avLst/>
            <a:gdLst/>
            <a:ahLst/>
            <a:cxnLst/>
            <a:rect r="r" b="b" t="t" l="l"/>
            <a:pathLst>
              <a:path h="2957757" w="3731115">
                <a:moveTo>
                  <a:pt x="0" y="0"/>
                </a:moveTo>
                <a:lnTo>
                  <a:pt x="3731115" y="0"/>
                </a:lnTo>
                <a:lnTo>
                  <a:pt x="3731115" y="2957757"/>
                </a:lnTo>
                <a:lnTo>
                  <a:pt x="0" y="2957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5604847" y="-832180"/>
            <a:ext cx="3396344" cy="2692375"/>
          </a:xfrm>
          <a:custGeom>
            <a:avLst/>
            <a:gdLst/>
            <a:ahLst/>
            <a:cxnLst/>
            <a:rect r="r" b="b" t="t" l="l"/>
            <a:pathLst>
              <a:path h="2692375" w="3396344">
                <a:moveTo>
                  <a:pt x="3396345" y="0"/>
                </a:moveTo>
                <a:lnTo>
                  <a:pt x="0" y="0"/>
                </a:lnTo>
                <a:lnTo>
                  <a:pt x="0" y="2692375"/>
                </a:lnTo>
                <a:lnTo>
                  <a:pt x="3396345" y="2692375"/>
                </a:lnTo>
                <a:lnTo>
                  <a:pt x="339634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259760" y="6378821"/>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2781048" y="6378821"/>
            <a:ext cx="2242799" cy="1529181"/>
          </a:xfrm>
          <a:custGeom>
            <a:avLst/>
            <a:gdLst/>
            <a:ahLst/>
            <a:cxnLst/>
            <a:rect r="r" b="b" t="t" l="l"/>
            <a:pathLst>
              <a:path h="1529181" w="2242799">
                <a:moveTo>
                  <a:pt x="0" y="0"/>
                </a:moveTo>
                <a:lnTo>
                  <a:pt x="2242800" y="0"/>
                </a:lnTo>
                <a:lnTo>
                  <a:pt x="2242800"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729946" y="3638830"/>
            <a:ext cx="14828108" cy="2454275"/>
          </a:xfrm>
          <a:prstGeom prst="rect">
            <a:avLst/>
          </a:prstGeom>
        </p:spPr>
        <p:txBody>
          <a:bodyPr anchor="t" rtlCol="false" tIns="0" lIns="0" bIns="0" rIns="0">
            <a:spAutoFit/>
          </a:bodyPr>
          <a:lstStyle/>
          <a:p>
            <a:pPr algn="ctr">
              <a:lnSpc>
                <a:spcPts val="4900"/>
              </a:lnSpc>
              <a:spcBef>
                <a:spcPct val="0"/>
              </a:spcBef>
            </a:pPr>
            <a:r>
              <a:rPr lang="en-US" b="true" sz="3500">
                <a:solidFill>
                  <a:srgbClr val="FFFFFF"/>
                </a:solidFill>
                <a:latin typeface="Open Sans Bold"/>
                <a:ea typeface="Open Sans Bold"/>
                <a:cs typeface="Open Sans Bold"/>
                <a:sym typeface="Open Sans Bold"/>
              </a:rPr>
              <a:t>Judul Project : PakPutra_laravel </a:t>
            </a:r>
          </a:p>
          <a:p>
            <a:pPr algn="ctr">
              <a:lnSpc>
                <a:spcPts val="4900"/>
              </a:lnSpc>
              <a:spcBef>
                <a:spcPct val="0"/>
              </a:spcBef>
            </a:pPr>
            <a:r>
              <a:rPr lang="en-US" b="true" sz="3500">
                <a:solidFill>
                  <a:srgbClr val="FFFFFF"/>
                </a:solidFill>
                <a:latin typeface="Open Sans Bold"/>
                <a:ea typeface="Open Sans Bold"/>
                <a:cs typeface="Open Sans Bold"/>
                <a:sym typeface="Open Sans Bold"/>
              </a:rPr>
              <a:t>Nama Lengkap : Muhamad Hafiz Mukti Wibowo</a:t>
            </a:r>
          </a:p>
          <a:p>
            <a:pPr algn="ctr">
              <a:lnSpc>
                <a:spcPts val="4900"/>
              </a:lnSpc>
              <a:spcBef>
                <a:spcPct val="0"/>
              </a:spcBef>
            </a:pPr>
            <a:r>
              <a:rPr lang="en-US" b="true" sz="3500">
                <a:solidFill>
                  <a:srgbClr val="FFFFFF"/>
                </a:solidFill>
                <a:latin typeface="Open Sans Bold"/>
                <a:ea typeface="Open Sans Bold"/>
                <a:cs typeface="Open Sans Bold"/>
                <a:sym typeface="Open Sans Bold"/>
              </a:rPr>
              <a:t>Kelas : XI - RPL</a:t>
            </a:r>
          </a:p>
          <a:p>
            <a:pPr algn="ctr">
              <a:lnSpc>
                <a:spcPts val="4900"/>
              </a:lnSpc>
              <a:spcBef>
                <a:spcPct val="0"/>
              </a:spcBef>
            </a:pPr>
            <a:r>
              <a:rPr lang="en-US" b="true" sz="3500">
                <a:solidFill>
                  <a:srgbClr val="FFFFFF"/>
                </a:solidFill>
                <a:latin typeface="Open Sans Bold"/>
                <a:ea typeface="Open Sans Bold"/>
                <a:cs typeface="Open Sans Bold"/>
                <a:sym typeface="Open Sans Bold"/>
              </a:rPr>
              <a:t>Absen : 23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TextBox 2" id="2"/>
          <p:cNvSpPr txBox="true"/>
          <p:nvPr/>
        </p:nvSpPr>
        <p:spPr>
          <a:xfrm rot="0">
            <a:off x="4639167" y="1474723"/>
            <a:ext cx="7913519" cy="1216025"/>
          </a:xfrm>
          <a:prstGeom prst="rect">
            <a:avLst/>
          </a:prstGeom>
        </p:spPr>
        <p:txBody>
          <a:bodyPr anchor="t" rtlCol="false" tIns="0" lIns="0" bIns="0" rIns="0">
            <a:spAutoFit/>
          </a:bodyPr>
          <a:lstStyle/>
          <a:p>
            <a:pPr algn="ctr">
              <a:lnSpc>
                <a:spcPts val="4900"/>
              </a:lnSpc>
            </a:pPr>
            <a:r>
              <a:rPr lang="en-US" sz="3500" b="true">
                <a:solidFill>
                  <a:srgbClr val="FFFFFF"/>
                </a:solidFill>
                <a:latin typeface="Open Sans Bold"/>
                <a:ea typeface="Open Sans Bold"/>
                <a:cs typeface="Open Sans Bold"/>
                <a:sym typeface="Open Sans Bold"/>
              </a:rPr>
              <a:t>Nama Aplikasi :</a:t>
            </a:r>
          </a:p>
          <a:p>
            <a:pPr algn="ctr">
              <a:lnSpc>
                <a:spcPts val="4900"/>
              </a:lnSpc>
            </a:pPr>
            <a:r>
              <a:rPr lang="en-US" sz="3500" b="true">
                <a:solidFill>
                  <a:srgbClr val="FFFFFF"/>
                </a:solidFill>
                <a:latin typeface="Open Sans Bold"/>
                <a:ea typeface="Open Sans Bold"/>
                <a:cs typeface="Open Sans Bold"/>
                <a:sym typeface="Open Sans Bold"/>
              </a:rPr>
              <a:t> Absensi Siswa </a:t>
            </a:r>
          </a:p>
        </p:txBody>
      </p:sp>
      <p:sp>
        <p:nvSpPr>
          <p:cNvPr name="TextBox 3" id="3"/>
          <p:cNvSpPr txBox="true"/>
          <p:nvPr/>
        </p:nvSpPr>
        <p:spPr>
          <a:xfrm rot="0">
            <a:off x="749503" y="3452748"/>
            <a:ext cx="15692848" cy="2442425"/>
          </a:xfrm>
          <a:prstGeom prst="rect">
            <a:avLst/>
          </a:prstGeom>
        </p:spPr>
        <p:txBody>
          <a:bodyPr anchor="t" rtlCol="false" tIns="0" lIns="0" bIns="0" rIns="0">
            <a:spAutoFit/>
          </a:bodyPr>
          <a:lstStyle/>
          <a:p>
            <a:pPr algn="ctr">
              <a:lnSpc>
                <a:spcPts val="4895"/>
              </a:lnSpc>
            </a:pPr>
            <a:r>
              <a:rPr lang="en-US" sz="3496" b="true">
                <a:solidFill>
                  <a:srgbClr val="FFFFFF"/>
                </a:solidFill>
                <a:latin typeface="Open Sans Bold"/>
                <a:ea typeface="Open Sans Bold"/>
                <a:cs typeface="Open Sans Bold"/>
                <a:sym typeface="Open Sans Bold"/>
              </a:rPr>
              <a:t>Fungsi aplikasi : </a:t>
            </a:r>
          </a:p>
          <a:p>
            <a:pPr algn="ctr">
              <a:lnSpc>
                <a:spcPts val="4895"/>
              </a:lnSpc>
            </a:pPr>
            <a:r>
              <a:rPr lang="en-US" sz="3496" b="true">
                <a:solidFill>
                  <a:srgbClr val="FFFFFF"/>
                </a:solidFill>
                <a:latin typeface="Open Sans Bold"/>
                <a:ea typeface="Open Sans Bold"/>
                <a:cs typeface="Open Sans Bold"/>
                <a:sym typeface="Open Sans Bold"/>
              </a:rPr>
              <a:t>Guru atau staf tata usaha dapat menginput data kehadiran siswa (Hadir, Sakit, Izin, Alfa) secara langsung di kelas melalui perangkat laptop atau komputer.</a:t>
            </a:r>
          </a:p>
        </p:txBody>
      </p:sp>
      <p:sp>
        <p:nvSpPr>
          <p:cNvPr name="TextBox 4" id="4"/>
          <p:cNvSpPr txBox="true"/>
          <p:nvPr/>
        </p:nvSpPr>
        <p:spPr>
          <a:xfrm rot="0">
            <a:off x="749503" y="6638606"/>
            <a:ext cx="16052084" cy="2454275"/>
          </a:xfrm>
          <a:prstGeom prst="rect">
            <a:avLst/>
          </a:prstGeom>
        </p:spPr>
        <p:txBody>
          <a:bodyPr anchor="t" rtlCol="false" tIns="0" lIns="0" bIns="0" rIns="0">
            <a:spAutoFit/>
          </a:bodyPr>
          <a:lstStyle/>
          <a:p>
            <a:pPr algn="ctr">
              <a:lnSpc>
                <a:spcPts val="4900"/>
              </a:lnSpc>
            </a:pPr>
            <a:r>
              <a:rPr lang="en-US" sz="3500" b="true">
                <a:solidFill>
                  <a:srgbClr val="FFFFFF"/>
                </a:solidFill>
                <a:latin typeface="Open Sans Bold"/>
                <a:ea typeface="Open Sans Bold"/>
                <a:cs typeface="Open Sans Bold"/>
                <a:sym typeface="Open Sans Bold"/>
              </a:rPr>
              <a:t>Target pengguna : </a:t>
            </a:r>
          </a:p>
          <a:p>
            <a:pPr algn="ctr">
              <a:lnSpc>
                <a:spcPts val="4900"/>
              </a:lnSpc>
            </a:pPr>
            <a:r>
              <a:rPr lang="en-US" sz="3500" b="true">
                <a:solidFill>
                  <a:srgbClr val="FFFFFF"/>
                </a:solidFill>
                <a:latin typeface="Open Sans Bold"/>
                <a:ea typeface="Open Sans Bold"/>
                <a:cs typeface="Open Sans Bold"/>
                <a:sym typeface="Open Sans Bold"/>
              </a:rPr>
              <a:t>Melakukan absensi harian secara cepat di dalam kelas melalui perangkat digital tanpa repot membawa buku absen kertas, serta melihat siapa saja siswa yang sering tidak hadir (Alfa/Sakit/Izin).</a:t>
            </a:r>
          </a:p>
        </p:txBody>
      </p:sp>
      <p:sp>
        <p:nvSpPr>
          <p:cNvPr name="Freeform 5" id="5"/>
          <p:cNvSpPr/>
          <p:nvPr/>
        </p:nvSpPr>
        <p:spPr>
          <a:xfrm flipH="true" flipV="false" rot="0">
            <a:off x="11539311" y="480458"/>
            <a:ext cx="3507719" cy="242352"/>
          </a:xfrm>
          <a:custGeom>
            <a:avLst/>
            <a:gdLst/>
            <a:ahLst/>
            <a:cxnLst/>
            <a:rect r="r" b="b" t="t" l="l"/>
            <a:pathLst>
              <a:path h="242352" w="3507719">
                <a:moveTo>
                  <a:pt x="3507720" y="0"/>
                </a:moveTo>
                <a:lnTo>
                  <a:pt x="0" y="0"/>
                </a:lnTo>
                <a:lnTo>
                  <a:pt x="0" y="242352"/>
                </a:lnTo>
                <a:lnTo>
                  <a:pt x="3507720" y="242352"/>
                </a:lnTo>
                <a:lnTo>
                  <a:pt x="35077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248014" y="223809"/>
            <a:ext cx="4695825" cy="679450"/>
          </a:xfrm>
          <a:prstGeom prst="rect">
            <a:avLst/>
          </a:prstGeom>
        </p:spPr>
        <p:txBody>
          <a:bodyPr anchor="t" rtlCol="false" tIns="0" lIns="0" bIns="0" rIns="0">
            <a:spAutoFit/>
          </a:bodyPr>
          <a:lstStyle/>
          <a:p>
            <a:pPr algn="ctr">
              <a:lnSpc>
                <a:spcPts val="5599"/>
              </a:lnSpc>
            </a:pPr>
            <a:r>
              <a:rPr lang="en-US" sz="3999" b="true">
                <a:solidFill>
                  <a:srgbClr val="FFFFFF"/>
                </a:solidFill>
                <a:latin typeface="Open Sans Bold"/>
                <a:ea typeface="Open Sans Bold"/>
                <a:cs typeface="Open Sans Bold"/>
                <a:sym typeface="Open Sans Bold"/>
              </a:rPr>
              <a:t>Penjelasan Project</a:t>
            </a:r>
          </a:p>
        </p:txBody>
      </p:sp>
      <p:sp>
        <p:nvSpPr>
          <p:cNvPr name="Freeform 7" id="7"/>
          <p:cNvSpPr/>
          <p:nvPr/>
        </p:nvSpPr>
        <p:spPr>
          <a:xfrm flipH="false" flipV="false" rot="0">
            <a:off x="2140220" y="480458"/>
            <a:ext cx="3507719" cy="242352"/>
          </a:xfrm>
          <a:custGeom>
            <a:avLst/>
            <a:gdLst/>
            <a:ahLst/>
            <a:cxnLst/>
            <a:rect r="r" b="b" t="t" l="l"/>
            <a:pathLst>
              <a:path h="242352" w="3507719">
                <a:moveTo>
                  <a:pt x="0" y="0"/>
                </a:moveTo>
                <a:lnTo>
                  <a:pt x="3507719" y="0"/>
                </a:lnTo>
                <a:lnTo>
                  <a:pt x="3507719" y="242352"/>
                </a:lnTo>
                <a:lnTo>
                  <a:pt x="0" y="2423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829596" y="1685925"/>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34082" y="235836"/>
            <a:ext cx="10349757" cy="869064"/>
          </a:xfrm>
          <a:custGeom>
            <a:avLst/>
            <a:gdLst/>
            <a:ahLst/>
            <a:cxnLst/>
            <a:rect r="r" b="b" t="t" l="l"/>
            <a:pathLst>
              <a:path h="869064" w="10349757">
                <a:moveTo>
                  <a:pt x="0" y="0"/>
                </a:moveTo>
                <a:lnTo>
                  <a:pt x="10349757" y="0"/>
                </a:lnTo>
                <a:lnTo>
                  <a:pt x="10349757"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false" rot="0">
            <a:off x="14493835" y="2508735"/>
            <a:ext cx="2765465" cy="191068"/>
          </a:xfrm>
          <a:custGeom>
            <a:avLst/>
            <a:gdLst/>
            <a:ahLst/>
            <a:cxnLst/>
            <a:rect r="r" b="b" t="t" l="l"/>
            <a:pathLst>
              <a:path h="191068" w="2765465">
                <a:moveTo>
                  <a:pt x="2765465" y="0"/>
                </a:moveTo>
                <a:lnTo>
                  <a:pt x="0" y="0"/>
                </a:lnTo>
                <a:lnTo>
                  <a:pt x="0" y="191069"/>
                </a:lnTo>
                <a:lnTo>
                  <a:pt x="2765465" y="191069"/>
                </a:lnTo>
                <a:lnTo>
                  <a:pt x="27654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29323" y="2508735"/>
            <a:ext cx="2765465" cy="191068"/>
          </a:xfrm>
          <a:custGeom>
            <a:avLst/>
            <a:gdLst/>
            <a:ahLst/>
            <a:cxnLst/>
            <a:rect r="r" b="b" t="t" l="l"/>
            <a:pathLst>
              <a:path h="191068" w="2765465">
                <a:moveTo>
                  <a:pt x="0" y="0"/>
                </a:moveTo>
                <a:lnTo>
                  <a:pt x="2765465" y="0"/>
                </a:lnTo>
                <a:lnTo>
                  <a:pt x="2765465" y="191069"/>
                </a:lnTo>
                <a:lnTo>
                  <a:pt x="0" y="191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372580" y="3309404"/>
            <a:ext cx="4224941" cy="682683"/>
            <a:chOff x="0" y="0"/>
            <a:chExt cx="1197986" cy="193575"/>
          </a:xfrm>
        </p:grpSpPr>
        <p:sp>
          <p:nvSpPr>
            <p:cNvPr name="Freeform 15" id="15"/>
            <p:cNvSpPr/>
            <p:nvPr/>
          </p:nvSpPr>
          <p:spPr>
            <a:xfrm flipH="false" flipV="false" rot="0">
              <a:off x="0" y="0"/>
              <a:ext cx="1197986" cy="193575"/>
            </a:xfrm>
            <a:custGeom>
              <a:avLst/>
              <a:gdLst/>
              <a:ahLst/>
              <a:cxnLst/>
              <a:rect r="r" b="b" t="t" l="l"/>
              <a:pathLst>
                <a:path h="193575" w="1197986">
                  <a:moveTo>
                    <a:pt x="0" y="0"/>
                  </a:moveTo>
                  <a:lnTo>
                    <a:pt x="1197986" y="0"/>
                  </a:lnTo>
                  <a:lnTo>
                    <a:pt x="1197986" y="193575"/>
                  </a:lnTo>
                  <a:lnTo>
                    <a:pt x="0" y="193575"/>
                  </a:lnTo>
                  <a:close/>
                </a:path>
              </a:pathLst>
            </a:custGeom>
            <a:solidFill>
              <a:srgbClr val="1660D6"/>
            </a:solidFill>
          </p:spPr>
        </p:sp>
        <p:sp>
          <p:nvSpPr>
            <p:cNvPr name="TextBox 16" id="16"/>
            <p:cNvSpPr txBox="true"/>
            <p:nvPr/>
          </p:nvSpPr>
          <p:spPr>
            <a:xfrm>
              <a:off x="0" y="-38100"/>
              <a:ext cx="1197986" cy="23167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372580" y="5619750"/>
            <a:ext cx="3328555" cy="710242"/>
            <a:chOff x="0" y="0"/>
            <a:chExt cx="943815" cy="201390"/>
          </a:xfrm>
        </p:grpSpPr>
        <p:sp>
          <p:nvSpPr>
            <p:cNvPr name="Freeform 18" id="18"/>
            <p:cNvSpPr/>
            <p:nvPr/>
          </p:nvSpPr>
          <p:spPr>
            <a:xfrm flipH="false" flipV="false" rot="0">
              <a:off x="0" y="0"/>
              <a:ext cx="943815" cy="201390"/>
            </a:xfrm>
            <a:custGeom>
              <a:avLst/>
              <a:gdLst/>
              <a:ahLst/>
              <a:cxnLst/>
              <a:rect r="r" b="b" t="t" l="l"/>
              <a:pathLst>
                <a:path h="201390" w="943815">
                  <a:moveTo>
                    <a:pt x="0" y="0"/>
                  </a:moveTo>
                  <a:lnTo>
                    <a:pt x="943815" y="0"/>
                  </a:lnTo>
                  <a:lnTo>
                    <a:pt x="943815" y="201390"/>
                  </a:lnTo>
                  <a:lnTo>
                    <a:pt x="0" y="201390"/>
                  </a:lnTo>
                  <a:close/>
                </a:path>
              </a:pathLst>
            </a:custGeom>
            <a:solidFill>
              <a:srgbClr val="1660D6"/>
            </a:solidFill>
          </p:spPr>
        </p:sp>
        <p:sp>
          <p:nvSpPr>
            <p:cNvPr name="TextBox 19" id="19"/>
            <p:cNvSpPr txBox="true"/>
            <p:nvPr/>
          </p:nvSpPr>
          <p:spPr>
            <a:xfrm>
              <a:off x="0" y="-38100"/>
              <a:ext cx="943815" cy="23949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376105" y="4463935"/>
            <a:ext cx="1221487" cy="689090"/>
            <a:chOff x="0" y="0"/>
            <a:chExt cx="346354" cy="195392"/>
          </a:xfrm>
        </p:grpSpPr>
        <p:sp>
          <p:nvSpPr>
            <p:cNvPr name="Freeform 21" id="21"/>
            <p:cNvSpPr/>
            <p:nvPr/>
          </p:nvSpPr>
          <p:spPr>
            <a:xfrm flipH="false" flipV="false" rot="0">
              <a:off x="0" y="0"/>
              <a:ext cx="346354" cy="195392"/>
            </a:xfrm>
            <a:custGeom>
              <a:avLst/>
              <a:gdLst/>
              <a:ahLst/>
              <a:cxnLst/>
              <a:rect r="r" b="b" t="t" l="l"/>
              <a:pathLst>
                <a:path h="195392" w="346354">
                  <a:moveTo>
                    <a:pt x="0" y="0"/>
                  </a:moveTo>
                  <a:lnTo>
                    <a:pt x="346354" y="0"/>
                  </a:lnTo>
                  <a:lnTo>
                    <a:pt x="346354" y="195392"/>
                  </a:lnTo>
                  <a:lnTo>
                    <a:pt x="0" y="195392"/>
                  </a:lnTo>
                  <a:close/>
                </a:path>
              </a:pathLst>
            </a:custGeom>
            <a:solidFill>
              <a:srgbClr val="EE8561"/>
            </a:solidFill>
          </p:spPr>
        </p:sp>
        <p:sp>
          <p:nvSpPr>
            <p:cNvPr name="TextBox 22" id="22"/>
            <p:cNvSpPr txBox="true"/>
            <p:nvPr/>
          </p:nvSpPr>
          <p:spPr>
            <a:xfrm>
              <a:off x="0" y="-38100"/>
              <a:ext cx="346354" cy="23349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376105" y="6806242"/>
            <a:ext cx="1761662" cy="734154"/>
            <a:chOff x="0" y="0"/>
            <a:chExt cx="499521" cy="208170"/>
          </a:xfrm>
        </p:grpSpPr>
        <p:sp>
          <p:nvSpPr>
            <p:cNvPr name="Freeform 24" id="24"/>
            <p:cNvSpPr/>
            <p:nvPr/>
          </p:nvSpPr>
          <p:spPr>
            <a:xfrm flipH="false" flipV="false" rot="0">
              <a:off x="0" y="0"/>
              <a:ext cx="499521" cy="208170"/>
            </a:xfrm>
            <a:custGeom>
              <a:avLst/>
              <a:gdLst/>
              <a:ahLst/>
              <a:cxnLst/>
              <a:rect r="r" b="b" t="t" l="l"/>
              <a:pathLst>
                <a:path h="208170" w="499521">
                  <a:moveTo>
                    <a:pt x="0" y="0"/>
                  </a:moveTo>
                  <a:lnTo>
                    <a:pt x="499521" y="0"/>
                  </a:lnTo>
                  <a:lnTo>
                    <a:pt x="499521" y="208170"/>
                  </a:lnTo>
                  <a:lnTo>
                    <a:pt x="0" y="208170"/>
                  </a:lnTo>
                  <a:close/>
                </a:path>
              </a:pathLst>
            </a:custGeom>
            <a:solidFill>
              <a:srgbClr val="EE8561"/>
            </a:solidFill>
          </p:spPr>
        </p:sp>
        <p:sp>
          <p:nvSpPr>
            <p:cNvPr name="TextBox 25" id="25"/>
            <p:cNvSpPr txBox="true"/>
            <p:nvPr/>
          </p:nvSpPr>
          <p:spPr>
            <a:xfrm>
              <a:off x="0" y="-38100"/>
              <a:ext cx="499521" cy="246270"/>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6973825" y="1520343"/>
            <a:ext cx="4340349" cy="849707"/>
          </a:xfrm>
          <a:prstGeom prst="rect">
            <a:avLst/>
          </a:prstGeom>
        </p:spPr>
        <p:txBody>
          <a:bodyPr anchor="t" rtlCol="false" tIns="0" lIns="0" bIns="0" rIns="0">
            <a:spAutoFit/>
          </a:bodyPr>
          <a:lstStyle/>
          <a:p>
            <a:pPr algn="ctr">
              <a:lnSpc>
                <a:spcPts val="6073"/>
              </a:lnSpc>
            </a:pPr>
            <a:r>
              <a:rPr lang="en-US" b="true" sz="4745">
                <a:solidFill>
                  <a:srgbClr val="90F8FF"/>
                </a:solidFill>
                <a:latin typeface="Neo Tech Bold"/>
                <a:ea typeface="Neo Tech Bold"/>
                <a:cs typeface="Neo Tech Bold"/>
                <a:sym typeface="Neo Tech Bold"/>
              </a:rPr>
              <a:t>FITUR PROJECT</a:t>
            </a:r>
          </a:p>
        </p:txBody>
      </p:sp>
      <p:sp>
        <p:nvSpPr>
          <p:cNvPr name="TextBox 27" id="27"/>
          <p:cNvSpPr txBox="true"/>
          <p:nvPr/>
        </p:nvSpPr>
        <p:spPr>
          <a:xfrm rot="0">
            <a:off x="1936490" y="3413835"/>
            <a:ext cx="3097121"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CRUD Data Siswa</a:t>
            </a:r>
          </a:p>
        </p:txBody>
      </p:sp>
      <p:sp>
        <p:nvSpPr>
          <p:cNvPr name="TextBox 28" id="28"/>
          <p:cNvSpPr txBox="true"/>
          <p:nvPr/>
        </p:nvSpPr>
        <p:spPr>
          <a:xfrm rot="0">
            <a:off x="1686426" y="5720823"/>
            <a:ext cx="2662995"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Authentication</a:t>
            </a:r>
          </a:p>
        </p:txBody>
      </p:sp>
      <p:sp>
        <p:nvSpPr>
          <p:cNvPr name="TextBox 29" id="29"/>
          <p:cNvSpPr txBox="true"/>
          <p:nvPr/>
        </p:nvSpPr>
        <p:spPr>
          <a:xfrm rot="0">
            <a:off x="1629814" y="4515961"/>
            <a:ext cx="714069"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 API</a:t>
            </a:r>
          </a:p>
        </p:txBody>
      </p:sp>
      <p:sp>
        <p:nvSpPr>
          <p:cNvPr name="TextBox 30" id="30"/>
          <p:cNvSpPr txBox="true"/>
          <p:nvPr/>
        </p:nvSpPr>
        <p:spPr>
          <a:xfrm rot="0">
            <a:off x="1686426" y="6866884"/>
            <a:ext cx="1148563"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Queue</a:t>
            </a:r>
          </a:p>
        </p:txBody>
      </p:sp>
      <p:sp>
        <p:nvSpPr>
          <p:cNvPr name="TextBox 31" id="31"/>
          <p:cNvSpPr txBox="true"/>
          <p:nvPr/>
        </p:nvSpPr>
        <p:spPr>
          <a:xfrm rot="0">
            <a:off x="6126077" y="3173408"/>
            <a:ext cx="12161923"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Manajemen data master siswa menggunakan Eloquent ORM, serta logika pencatatan kehadiran (Hadir, Sakit, Izin, Alfa) berbasis metode updateOrCreate untuk mencegah duplikasi data.</a:t>
            </a:r>
          </a:p>
        </p:txBody>
      </p:sp>
      <p:sp>
        <p:nvSpPr>
          <p:cNvPr name="TextBox 32" id="32"/>
          <p:cNvSpPr txBox="true"/>
          <p:nvPr/>
        </p:nvSpPr>
        <p:spPr>
          <a:xfrm rot="0">
            <a:off x="5363802" y="5416112"/>
            <a:ext cx="11455688"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Pembatasan hak akses halaman administrasi sekolah menggunakan paket resmi Laravel Breeze terenkripsi Bcrypt guna melindungi data presensi dari manipulasi pihak luar.</a:t>
            </a:r>
          </a:p>
        </p:txBody>
      </p:sp>
      <p:sp>
        <p:nvSpPr>
          <p:cNvPr name="TextBox 33" id="33"/>
          <p:cNvSpPr txBox="true"/>
          <p:nvPr/>
        </p:nvSpPr>
        <p:spPr>
          <a:xfrm rot="0">
            <a:off x="3137767" y="4283157"/>
            <a:ext cx="11942387"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Penyediaan endpoint universal (/api/siswa) untuk mendistribusikan data siswa dalam format JSON murni, siap diintegrasikan dengan aplikasi mobile atau sistem eksternal di masa depan.</a:t>
            </a:r>
          </a:p>
        </p:txBody>
      </p:sp>
      <p:sp>
        <p:nvSpPr>
          <p:cNvPr name="TextBox 34" id="34"/>
          <p:cNvSpPr txBox="true"/>
          <p:nvPr/>
        </p:nvSpPr>
        <p:spPr>
          <a:xfrm rot="0">
            <a:off x="3761731" y="6614560"/>
            <a:ext cx="11508346"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Mekanisme penundaan proses sekunder melalui background job (LogSiswaBaru::dispatch()) untuk mencatat log aktivitas sistem tanpa membebani response time utama pada browser.</a:t>
            </a:r>
          </a:p>
        </p:txBody>
      </p:sp>
      <p:grpSp>
        <p:nvGrpSpPr>
          <p:cNvPr name="Group 35" id="35"/>
          <p:cNvGrpSpPr/>
          <p:nvPr/>
        </p:nvGrpSpPr>
        <p:grpSpPr>
          <a:xfrm rot="0">
            <a:off x="1376105" y="7919651"/>
            <a:ext cx="6650060" cy="710242"/>
            <a:chOff x="0" y="0"/>
            <a:chExt cx="1885630" cy="201390"/>
          </a:xfrm>
        </p:grpSpPr>
        <p:sp>
          <p:nvSpPr>
            <p:cNvPr name="Freeform 36" id="36"/>
            <p:cNvSpPr/>
            <p:nvPr/>
          </p:nvSpPr>
          <p:spPr>
            <a:xfrm flipH="false" flipV="false" rot="0">
              <a:off x="0" y="0"/>
              <a:ext cx="1885630" cy="201390"/>
            </a:xfrm>
            <a:custGeom>
              <a:avLst/>
              <a:gdLst/>
              <a:ahLst/>
              <a:cxnLst/>
              <a:rect r="r" b="b" t="t" l="l"/>
              <a:pathLst>
                <a:path h="201390" w="1885630">
                  <a:moveTo>
                    <a:pt x="0" y="0"/>
                  </a:moveTo>
                  <a:lnTo>
                    <a:pt x="1885630" y="0"/>
                  </a:lnTo>
                  <a:lnTo>
                    <a:pt x="1885630" y="201390"/>
                  </a:lnTo>
                  <a:lnTo>
                    <a:pt x="0" y="201390"/>
                  </a:lnTo>
                  <a:close/>
                </a:path>
              </a:pathLst>
            </a:custGeom>
            <a:solidFill>
              <a:srgbClr val="1660D6"/>
            </a:solidFill>
          </p:spPr>
        </p:sp>
        <p:sp>
          <p:nvSpPr>
            <p:cNvPr name="TextBox 37" id="37"/>
            <p:cNvSpPr txBox="true"/>
            <p:nvPr/>
          </p:nvSpPr>
          <p:spPr>
            <a:xfrm>
              <a:off x="0" y="-38100"/>
              <a:ext cx="1885630" cy="239490"/>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642301" y="8031088"/>
            <a:ext cx="6192401"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Responsive UI (3D Glassmorphism)</a:t>
            </a:r>
          </a:p>
        </p:txBody>
      </p:sp>
      <p:sp>
        <p:nvSpPr>
          <p:cNvPr name="TextBox 39" id="39"/>
          <p:cNvSpPr txBox="true"/>
          <p:nvPr/>
        </p:nvSpPr>
        <p:spPr>
          <a:xfrm rot="0">
            <a:off x="8635317" y="7722553"/>
            <a:ext cx="9354032" cy="1442869"/>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Antarmuka dashboard interaktif, rekapitulasi otomatis secara real-time, dan sistem ekspor laporan (PDF/Excel) yang adaptif di berbagai perangkat menggunakan Tailwind CSS.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829596" y="1685925"/>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34082" y="235836"/>
            <a:ext cx="10349757" cy="869064"/>
          </a:xfrm>
          <a:custGeom>
            <a:avLst/>
            <a:gdLst/>
            <a:ahLst/>
            <a:cxnLst/>
            <a:rect r="r" b="b" t="t" l="l"/>
            <a:pathLst>
              <a:path h="869064" w="10349757">
                <a:moveTo>
                  <a:pt x="0" y="0"/>
                </a:moveTo>
                <a:lnTo>
                  <a:pt x="10349757" y="0"/>
                </a:lnTo>
                <a:lnTo>
                  <a:pt x="10349757"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false" rot="0">
            <a:off x="14493835" y="2508735"/>
            <a:ext cx="2765465" cy="191068"/>
          </a:xfrm>
          <a:custGeom>
            <a:avLst/>
            <a:gdLst/>
            <a:ahLst/>
            <a:cxnLst/>
            <a:rect r="r" b="b" t="t" l="l"/>
            <a:pathLst>
              <a:path h="191068" w="2765465">
                <a:moveTo>
                  <a:pt x="2765465" y="0"/>
                </a:moveTo>
                <a:lnTo>
                  <a:pt x="0" y="0"/>
                </a:lnTo>
                <a:lnTo>
                  <a:pt x="0" y="191069"/>
                </a:lnTo>
                <a:lnTo>
                  <a:pt x="2765465" y="191069"/>
                </a:lnTo>
                <a:lnTo>
                  <a:pt x="27654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29323" y="2508735"/>
            <a:ext cx="2765465" cy="191068"/>
          </a:xfrm>
          <a:custGeom>
            <a:avLst/>
            <a:gdLst/>
            <a:ahLst/>
            <a:cxnLst/>
            <a:rect r="r" b="b" t="t" l="l"/>
            <a:pathLst>
              <a:path h="191068" w="2765465">
                <a:moveTo>
                  <a:pt x="0" y="0"/>
                </a:moveTo>
                <a:lnTo>
                  <a:pt x="2765465" y="0"/>
                </a:lnTo>
                <a:lnTo>
                  <a:pt x="2765465" y="191069"/>
                </a:lnTo>
                <a:lnTo>
                  <a:pt x="0" y="191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372580" y="3309404"/>
            <a:ext cx="4224941" cy="682683"/>
            <a:chOff x="0" y="0"/>
            <a:chExt cx="1197986" cy="193575"/>
          </a:xfrm>
        </p:grpSpPr>
        <p:sp>
          <p:nvSpPr>
            <p:cNvPr name="Freeform 15" id="15"/>
            <p:cNvSpPr/>
            <p:nvPr/>
          </p:nvSpPr>
          <p:spPr>
            <a:xfrm flipH="false" flipV="false" rot="0">
              <a:off x="0" y="0"/>
              <a:ext cx="1197986" cy="193575"/>
            </a:xfrm>
            <a:custGeom>
              <a:avLst/>
              <a:gdLst/>
              <a:ahLst/>
              <a:cxnLst/>
              <a:rect r="r" b="b" t="t" l="l"/>
              <a:pathLst>
                <a:path h="193575" w="1197986">
                  <a:moveTo>
                    <a:pt x="0" y="0"/>
                  </a:moveTo>
                  <a:lnTo>
                    <a:pt x="1197986" y="0"/>
                  </a:lnTo>
                  <a:lnTo>
                    <a:pt x="1197986" y="193575"/>
                  </a:lnTo>
                  <a:lnTo>
                    <a:pt x="0" y="193575"/>
                  </a:lnTo>
                  <a:close/>
                </a:path>
              </a:pathLst>
            </a:custGeom>
            <a:solidFill>
              <a:srgbClr val="1660D6"/>
            </a:solidFill>
          </p:spPr>
        </p:sp>
        <p:sp>
          <p:nvSpPr>
            <p:cNvPr name="TextBox 16" id="16"/>
            <p:cNvSpPr txBox="true"/>
            <p:nvPr/>
          </p:nvSpPr>
          <p:spPr>
            <a:xfrm>
              <a:off x="0" y="-38100"/>
              <a:ext cx="1197986" cy="23167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409946" y="6096000"/>
            <a:ext cx="3328555" cy="710242"/>
            <a:chOff x="0" y="0"/>
            <a:chExt cx="943815" cy="201390"/>
          </a:xfrm>
        </p:grpSpPr>
        <p:sp>
          <p:nvSpPr>
            <p:cNvPr name="Freeform 18" id="18"/>
            <p:cNvSpPr/>
            <p:nvPr/>
          </p:nvSpPr>
          <p:spPr>
            <a:xfrm flipH="false" flipV="false" rot="0">
              <a:off x="0" y="0"/>
              <a:ext cx="943815" cy="201390"/>
            </a:xfrm>
            <a:custGeom>
              <a:avLst/>
              <a:gdLst/>
              <a:ahLst/>
              <a:cxnLst/>
              <a:rect r="r" b="b" t="t" l="l"/>
              <a:pathLst>
                <a:path h="201390" w="943815">
                  <a:moveTo>
                    <a:pt x="0" y="0"/>
                  </a:moveTo>
                  <a:lnTo>
                    <a:pt x="943815" y="0"/>
                  </a:lnTo>
                  <a:lnTo>
                    <a:pt x="943815" y="201390"/>
                  </a:lnTo>
                  <a:lnTo>
                    <a:pt x="0" y="201390"/>
                  </a:lnTo>
                  <a:close/>
                </a:path>
              </a:pathLst>
            </a:custGeom>
            <a:solidFill>
              <a:srgbClr val="1660D6"/>
            </a:solidFill>
          </p:spPr>
        </p:sp>
        <p:sp>
          <p:nvSpPr>
            <p:cNvPr name="TextBox 19" id="19"/>
            <p:cNvSpPr txBox="true"/>
            <p:nvPr/>
          </p:nvSpPr>
          <p:spPr>
            <a:xfrm>
              <a:off x="0" y="-38100"/>
              <a:ext cx="943815" cy="23949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376105" y="4463935"/>
            <a:ext cx="4904831" cy="779717"/>
            <a:chOff x="0" y="0"/>
            <a:chExt cx="1390769" cy="221089"/>
          </a:xfrm>
        </p:grpSpPr>
        <p:sp>
          <p:nvSpPr>
            <p:cNvPr name="Freeform 21" id="21"/>
            <p:cNvSpPr/>
            <p:nvPr/>
          </p:nvSpPr>
          <p:spPr>
            <a:xfrm flipH="false" flipV="false" rot="0">
              <a:off x="0" y="0"/>
              <a:ext cx="1390769" cy="221089"/>
            </a:xfrm>
            <a:custGeom>
              <a:avLst/>
              <a:gdLst/>
              <a:ahLst/>
              <a:cxnLst/>
              <a:rect r="r" b="b" t="t" l="l"/>
              <a:pathLst>
                <a:path h="221089" w="1390769">
                  <a:moveTo>
                    <a:pt x="0" y="0"/>
                  </a:moveTo>
                  <a:lnTo>
                    <a:pt x="1390769" y="0"/>
                  </a:lnTo>
                  <a:lnTo>
                    <a:pt x="1390769" y="221089"/>
                  </a:lnTo>
                  <a:lnTo>
                    <a:pt x="0" y="221089"/>
                  </a:lnTo>
                  <a:close/>
                </a:path>
              </a:pathLst>
            </a:custGeom>
            <a:solidFill>
              <a:srgbClr val="EE8561"/>
            </a:solidFill>
          </p:spPr>
        </p:sp>
        <p:sp>
          <p:nvSpPr>
            <p:cNvPr name="TextBox 22" id="22"/>
            <p:cNvSpPr txBox="true"/>
            <p:nvPr/>
          </p:nvSpPr>
          <p:spPr>
            <a:xfrm>
              <a:off x="0" y="-38100"/>
              <a:ext cx="1390769" cy="259189"/>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409946" y="7282492"/>
            <a:ext cx="3045079" cy="734154"/>
            <a:chOff x="0" y="0"/>
            <a:chExt cx="863435" cy="208170"/>
          </a:xfrm>
        </p:grpSpPr>
        <p:sp>
          <p:nvSpPr>
            <p:cNvPr name="Freeform 24" id="24"/>
            <p:cNvSpPr/>
            <p:nvPr/>
          </p:nvSpPr>
          <p:spPr>
            <a:xfrm flipH="false" flipV="false" rot="0">
              <a:off x="0" y="0"/>
              <a:ext cx="863435" cy="208170"/>
            </a:xfrm>
            <a:custGeom>
              <a:avLst/>
              <a:gdLst/>
              <a:ahLst/>
              <a:cxnLst/>
              <a:rect r="r" b="b" t="t" l="l"/>
              <a:pathLst>
                <a:path h="208170" w="863435">
                  <a:moveTo>
                    <a:pt x="0" y="0"/>
                  </a:moveTo>
                  <a:lnTo>
                    <a:pt x="863435" y="0"/>
                  </a:lnTo>
                  <a:lnTo>
                    <a:pt x="863435" y="208170"/>
                  </a:lnTo>
                  <a:lnTo>
                    <a:pt x="0" y="208170"/>
                  </a:lnTo>
                  <a:close/>
                </a:path>
              </a:pathLst>
            </a:custGeom>
            <a:solidFill>
              <a:srgbClr val="EE8561"/>
            </a:solidFill>
          </p:spPr>
        </p:sp>
        <p:sp>
          <p:nvSpPr>
            <p:cNvPr name="TextBox 25" id="25"/>
            <p:cNvSpPr txBox="true"/>
            <p:nvPr/>
          </p:nvSpPr>
          <p:spPr>
            <a:xfrm>
              <a:off x="0" y="-38100"/>
              <a:ext cx="863435" cy="246270"/>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6415228" y="1520343"/>
            <a:ext cx="5457544" cy="849707"/>
          </a:xfrm>
          <a:prstGeom prst="rect">
            <a:avLst/>
          </a:prstGeom>
        </p:spPr>
        <p:txBody>
          <a:bodyPr anchor="t" rtlCol="false" tIns="0" lIns="0" bIns="0" rIns="0">
            <a:spAutoFit/>
          </a:bodyPr>
          <a:lstStyle/>
          <a:p>
            <a:pPr algn="ctr">
              <a:lnSpc>
                <a:spcPts val="6073"/>
              </a:lnSpc>
            </a:pPr>
            <a:r>
              <a:rPr lang="en-US" b="true" sz="4745">
                <a:solidFill>
                  <a:srgbClr val="90F8FF"/>
                </a:solidFill>
                <a:latin typeface="Neo Tech Bold"/>
                <a:ea typeface="Neo Tech Bold"/>
                <a:cs typeface="Neo Tech Bold"/>
                <a:sym typeface="Neo Tech Bold"/>
              </a:rPr>
              <a:t>FITUR LARAVEL 13</a:t>
            </a:r>
          </a:p>
        </p:txBody>
      </p:sp>
      <p:sp>
        <p:nvSpPr>
          <p:cNvPr name="TextBox 27" id="27"/>
          <p:cNvSpPr txBox="true"/>
          <p:nvPr/>
        </p:nvSpPr>
        <p:spPr>
          <a:xfrm rot="0">
            <a:off x="2261790" y="3413835"/>
            <a:ext cx="2446521"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Laravel Boost</a:t>
            </a:r>
          </a:p>
        </p:txBody>
      </p:sp>
      <p:sp>
        <p:nvSpPr>
          <p:cNvPr name="TextBox 28" id="28"/>
          <p:cNvSpPr txBox="true"/>
          <p:nvPr/>
        </p:nvSpPr>
        <p:spPr>
          <a:xfrm rot="0">
            <a:off x="1727264" y="6144686"/>
            <a:ext cx="2693920"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JSON Response</a:t>
            </a:r>
          </a:p>
        </p:txBody>
      </p:sp>
      <p:sp>
        <p:nvSpPr>
          <p:cNvPr name="TextBox 29" id="29"/>
          <p:cNvSpPr txBox="true"/>
          <p:nvPr/>
        </p:nvSpPr>
        <p:spPr>
          <a:xfrm rot="0">
            <a:off x="1527439" y="4547358"/>
            <a:ext cx="4753497"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PrefersJsonResponses() </a:t>
            </a:r>
          </a:p>
        </p:txBody>
      </p:sp>
      <p:sp>
        <p:nvSpPr>
          <p:cNvPr name="TextBox 30" id="30"/>
          <p:cNvSpPr txBox="true"/>
          <p:nvPr/>
        </p:nvSpPr>
        <p:spPr>
          <a:xfrm rot="0">
            <a:off x="1613469" y="7330117"/>
            <a:ext cx="2638035"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Queue Routing</a:t>
            </a:r>
          </a:p>
        </p:txBody>
      </p:sp>
      <p:sp>
        <p:nvSpPr>
          <p:cNvPr name="TextBox 31" id="31"/>
          <p:cNvSpPr txBox="true"/>
          <p:nvPr/>
        </p:nvSpPr>
        <p:spPr>
          <a:xfrm rot="0">
            <a:off x="6126077" y="3173408"/>
            <a:ext cx="12161923"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Paket (package) resmi dari ekosistem Laravel yang menyediakan perancangan sistem login, registrasi, dan manajemen sesi secara instan dan aman.</a:t>
            </a:r>
          </a:p>
        </p:txBody>
      </p:sp>
      <p:sp>
        <p:nvSpPr>
          <p:cNvPr name="TextBox 32" id="32"/>
          <p:cNvSpPr txBox="true"/>
          <p:nvPr/>
        </p:nvSpPr>
        <p:spPr>
          <a:xfrm rot="0">
            <a:off x="6035847" y="8811087"/>
            <a:ext cx="11455688"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Lapisan penyaring (filter) keamanan yang ditempelkan langsung sebagai atribut/properti pada jalur URL (routing) aplikasi.</a:t>
            </a:r>
          </a:p>
        </p:txBody>
      </p:sp>
      <p:sp>
        <p:nvSpPr>
          <p:cNvPr name="TextBox 33" id="33"/>
          <p:cNvSpPr txBox="true"/>
          <p:nvPr/>
        </p:nvSpPr>
        <p:spPr>
          <a:xfrm rot="0">
            <a:off x="6682845" y="4311535"/>
            <a:ext cx="11605155" cy="1442869"/>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Sebuah instruksi internal pada arsitektur Laravel modern yang mendeteksi jenis permintaan (request) masuk, lalu memaksa sistem untuk selalu merespons dalam bentuk format JSON, terutama ketika terjadi error atau gagal validasi.</a:t>
            </a:r>
          </a:p>
        </p:txBody>
      </p:sp>
      <p:sp>
        <p:nvSpPr>
          <p:cNvPr name="TextBox 34" id="34"/>
          <p:cNvSpPr txBox="true"/>
          <p:nvPr/>
        </p:nvSpPr>
        <p:spPr>
          <a:xfrm rot="0">
            <a:off x="5223540" y="5925854"/>
            <a:ext cx="13298465" cy="965118"/>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 Format pertukaran data berbentuk teks terstruktur (JavaScript Object Notation) berbasis pasangan key (kunci) dan value (nilai) yang sangat ringan dan menjadi standar global komunikasi antar aplikasi.</a:t>
            </a:r>
          </a:p>
        </p:txBody>
      </p:sp>
      <p:grpSp>
        <p:nvGrpSpPr>
          <p:cNvPr name="Group 35" id="35"/>
          <p:cNvGrpSpPr/>
          <p:nvPr/>
        </p:nvGrpSpPr>
        <p:grpSpPr>
          <a:xfrm rot="0">
            <a:off x="1409946" y="8972793"/>
            <a:ext cx="4187575" cy="614341"/>
            <a:chOff x="0" y="0"/>
            <a:chExt cx="1187390" cy="174197"/>
          </a:xfrm>
        </p:grpSpPr>
        <p:sp>
          <p:nvSpPr>
            <p:cNvPr name="Freeform 36" id="36"/>
            <p:cNvSpPr/>
            <p:nvPr/>
          </p:nvSpPr>
          <p:spPr>
            <a:xfrm flipH="false" flipV="false" rot="0">
              <a:off x="0" y="0"/>
              <a:ext cx="1187391" cy="174197"/>
            </a:xfrm>
            <a:custGeom>
              <a:avLst/>
              <a:gdLst/>
              <a:ahLst/>
              <a:cxnLst/>
              <a:rect r="r" b="b" t="t" l="l"/>
              <a:pathLst>
                <a:path h="174197" w="1187391">
                  <a:moveTo>
                    <a:pt x="0" y="0"/>
                  </a:moveTo>
                  <a:lnTo>
                    <a:pt x="1187391" y="0"/>
                  </a:lnTo>
                  <a:lnTo>
                    <a:pt x="1187391" y="174197"/>
                  </a:lnTo>
                  <a:lnTo>
                    <a:pt x="0" y="174197"/>
                  </a:lnTo>
                  <a:close/>
                </a:path>
              </a:pathLst>
            </a:custGeom>
            <a:solidFill>
              <a:srgbClr val="1660D6"/>
            </a:solidFill>
          </p:spPr>
        </p:sp>
        <p:sp>
          <p:nvSpPr>
            <p:cNvPr name="TextBox 37" id="37"/>
            <p:cNvSpPr txBox="true"/>
            <p:nvPr/>
          </p:nvSpPr>
          <p:spPr>
            <a:xfrm>
              <a:off x="0" y="-38100"/>
              <a:ext cx="1187390" cy="212297"/>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613469" y="8973529"/>
            <a:ext cx="3738650" cy="527146"/>
          </a:xfrm>
          <a:prstGeom prst="rect">
            <a:avLst/>
          </a:prstGeom>
        </p:spPr>
        <p:txBody>
          <a:bodyPr anchor="t" rtlCol="false" tIns="0" lIns="0" bIns="0" rIns="0">
            <a:spAutoFit/>
          </a:bodyPr>
          <a:lstStyle/>
          <a:p>
            <a:pPr algn="ctr">
              <a:lnSpc>
                <a:spcPts val="3756"/>
              </a:lnSpc>
            </a:pPr>
            <a:r>
              <a:rPr lang="en-US" sz="2934" b="true">
                <a:solidFill>
                  <a:srgbClr val="FFFFFF"/>
                </a:solidFill>
                <a:latin typeface="Neo Tech Bold"/>
                <a:ea typeface="Neo Tech Bold"/>
                <a:cs typeface="Neo Tech Bold"/>
                <a:sym typeface="Neo Tech Bold"/>
              </a:rPr>
              <a:t>Attribute Midleware</a:t>
            </a:r>
          </a:p>
        </p:txBody>
      </p:sp>
      <p:sp>
        <p:nvSpPr>
          <p:cNvPr name="TextBox 39" id="39"/>
          <p:cNvSpPr txBox="true"/>
          <p:nvPr/>
        </p:nvSpPr>
        <p:spPr>
          <a:xfrm rot="0">
            <a:off x="4973957" y="7130092"/>
            <a:ext cx="12517577" cy="1442869"/>
          </a:xfrm>
          <a:prstGeom prst="rect">
            <a:avLst/>
          </a:prstGeom>
        </p:spPr>
        <p:txBody>
          <a:bodyPr anchor="t" rtlCol="false" tIns="0" lIns="0" bIns="0" rIns="0">
            <a:spAutoFit/>
          </a:bodyPr>
          <a:lstStyle/>
          <a:p>
            <a:pPr algn="l">
              <a:lnSpc>
                <a:spcPts val="3769"/>
              </a:lnSpc>
            </a:pPr>
            <a:r>
              <a:rPr lang="en-US" sz="2204" spc="24">
                <a:solidFill>
                  <a:srgbClr val="FFFFFF"/>
                </a:solidFill>
                <a:latin typeface="Neo Tech"/>
                <a:ea typeface="Neo Tech"/>
                <a:cs typeface="Neo Tech"/>
                <a:sym typeface="Neo Tech"/>
              </a:rPr>
              <a:t>Mekanisme penundaan tugas sekunder (tugas pendukung) ke latar belakang server. Laravel menggunakan antrean (Queue) agar browser pengguna tidak perlu menunggu proses yang memakan waktu lama selesai, sehingga performa web tetap terasa instan.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6570699" y="1838597"/>
            <a:ext cx="5901161" cy="1034201"/>
          </a:xfrm>
          <a:prstGeom prst="rect">
            <a:avLst/>
          </a:prstGeom>
        </p:spPr>
        <p:txBody>
          <a:bodyPr anchor="t" rtlCol="false" tIns="0" lIns="0" bIns="0" rIns="0">
            <a:spAutoFit/>
          </a:bodyPr>
          <a:lstStyle/>
          <a:p>
            <a:pPr algn="ctr">
              <a:lnSpc>
                <a:spcPts val="7394"/>
              </a:lnSpc>
            </a:pPr>
            <a:r>
              <a:rPr lang="en-US" b="true" sz="5776">
                <a:solidFill>
                  <a:srgbClr val="90F8FF"/>
                </a:solidFill>
                <a:latin typeface="Neo Tech Bold"/>
                <a:ea typeface="Neo Tech Bold"/>
                <a:cs typeface="Neo Tech Bold"/>
                <a:sym typeface="Neo Tech Bold"/>
              </a:rPr>
              <a:t>PENGGUNAAN AI</a:t>
            </a:r>
          </a:p>
        </p:txBody>
      </p:sp>
      <p:grpSp>
        <p:nvGrpSpPr>
          <p:cNvPr name="Group 19" id="19"/>
          <p:cNvGrpSpPr/>
          <p:nvPr/>
        </p:nvGrpSpPr>
        <p:grpSpPr>
          <a:xfrm rot="0">
            <a:off x="5696203" y="3227966"/>
            <a:ext cx="7742335" cy="1915534"/>
            <a:chOff x="0" y="0"/>
            <a:chExt cx="2039133" cy="504503"/>
          </a:xfrm>
        </p:grpSpPr>
        <p:sp>
          <p:nvSpPr>
            <p:cNvPr name="Freeform 20" id="20"/>
            <p:cNvSpPr/>
            <p:nvPr/>
          </p:nvSpPr>
          <p:spPr>
            <a:xfrm flipH="false" flipV="false" rot="0">
              <a:off x="0" y="0"/>
              <a:ext cx="2039133" cy="504503"/>
            </a:xfrm>
            <a:custGeom>
              <a:avLst/>
              <a:gdLst/>
              <a:ahLst/>
              <a:cxnLst/>
              <a:rect r="r" b="b" t="t" l="l"/>
              <a:pathLst>
                <a:path h="504503" w="2039133">
                  <a:moveTo>
                    <a:pt x="29998" y="0"/>
                  </a:moveTo>
                  <a:lnTo>
                    <a:pt x="2009135" y="0"/>
                  </a:lnTo>
                  <a:cubicBezTo>
                    <a:pt x="2025703" y="0"/>
                    <a:pt x="2039133" y="13431"/>
                    <a:pt x="2039133" y="29998"/>
                  </a:cubicBezTo>
                  <a:lnTo>
                    <a:pt x="2039133" y="474504"/>
                  </a:lnTo>
                  <a:cubicBezTo>
                    <a:pt x="2039133" y="482461"/>
                    <a:pt x="2035973" y="490091"/>
                    <a:pt x="2030347" y="495716"/>
                  </a:cubicBezTo>
                  <a:cubicBezTo>
                    <a:pt x="2024721" y="501342"/>
                    <a:pt x="2017091" y="504503"/>
                    <a:pt x="2009135" y="504503"/>
                  </a:cubicBezTo>
                  <a:lnTo>
                    <a:pt x="29998" y="504503"/>
                  </a:lnTo>
                  <a:cubicBezTo>
                    <a:pt x="22042" y="504503"/>
                    <a:pt x="14412" y="501342"/>
                    <a:pt x="8786" y="495716"/>
                  </a:cubicBezTo>
                  <a:cubicBezTo>
                    <a:pt x="3161" y="490091"/>
                    <a:pt x="0" y="482461"/>
                    <a:pt x="0" y="474504"/>
                  </a:cubicBezTo>
                  <a:lnTo>
                    <a:pt x="0" y="29998"/>
                  </a:lnTo>
                  <a:cubicBezTo>
                    <a:pt x="0" y="22042"/>
                    <a:pt x="3161" y="14412"/>
                    <a:pt x="8786" y="8786"/>
                  </a:cubicBezTo>
                  <a:cubicBezTo>
                    <a:pt x="14412" y="3161"/>
                    <a:pt x="22042" y="0"/>
                    <a:pt x="29998" y="0"/>
                  </a:cubicBezTo>
                  <a:close/>
                </a:path>
              </a:pathLst>
            </a:custGeom>
            <a:ln w="85725" cap="rnd">
              <a:solidFill>
                <a:srgbClr val="1EF1FF"/>
              </a:solidFill>
              <a:prstDash val="solid"/>
              <a:round/>
            </a:ln>
          </p:spPr>
        </p:sp>
        <p:sp>
          <p:nvSpPr>
            <p:cNvPr name="TextBox 21" id="21"/>
            <p:cNvSpPr txBox="true"/>
            <p:nvPr/>
          </p:nvSpPr>
          <p:spPr>
            <a:xfrm>
              <a:off x="0" y="-38100"/>
              <a:ext cx="2039133" cy="542603"/>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5604021" y="3357246"/>
            <a:ext cx="7834517" cy="1621976"/>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AI apa yang digunakan?</a:t>
            </a:r>
          </a:p>
          <a:p>
            <a:pPr algn="ctr">
              <a:lnSpc>
                <a:spcPts val="3072"/>
              </a:lnSpc>
            </a:pPr>
          </a:p>
          <a:p>
            <a:pPr algn="ctr">
              <a:lnSpc>
                <a:spcPts val="3072"/>
              </a:lnSpc>
            </a:pPr>
            <a:r>
              <a:rPr lang="en-US" sz="2400" spc="-69">
                <a:solidFill>
                  <a:srgbClr val="FFFFFF"/>
                </a:solidFill>
                <a:latin typeface="Neo Tech Light"/>
                <a:ea typeface="Neo Tech Light"/>
                <a:cs typeface="Neo Tech Light"/>
                <a:sym typeface="Neo Tech Light"/>
              </a:rPr>
              <a:t>Gemini : Digunakan untuk menganalisis basis kode berskala besar, dokumentasi teknis, dan arsitektur sistem.</a:t>
            </a:r>
          </a:p>
        </p:txBody>
      </p:sp>
      <p:sp>
        <p:nvSpPr>
          <p:cNvPr name="TextBox 23" id="23"/>
          <p:cNvSpPr txBox="true"/>
          <p:nvPr/>
        </p:nvSpPr>
        <p:spPr>
          <a:xfrm rot="0">
            <a:off x="2044903" y="5934075"/>
            <a:ext cx="14198194" cy="1947291"/>
          </a:xfrm>
          <a:prstGeom prst="rect">
            <a:avLst/>
          </a:prstGeom>
        </p:spPr>
        <p:txBody>
          <a:bodyPr anchor="t" rtlCol="false" tIns="0" lIns="0" bIns="0" rIns="0">
            <a:spAutoFit/>
          </a:bodyPr>
          <a:lstStyle/>
          <a:p>
            <a:pPr algn="ctr">
              <a:lnSpc>
                <a:spcPts val="3072"/>
              </a:lnSpc>
            </a:pPr>
            <a:r>
              <a:rPr lang="en-US" sz="2400" spc="-69">
                <a:solidFill>
                  <a:srgbClr val="FFFFFF"/>
                </a:solidFill>
                <a:latin typeface="Neo Tech"/>
                <a:ea typeface="Neo Tech"/>
                <a:cs typeface="Neo Tech"/>
                <a:sym typeface="Neo Tech"/>
              </a:rPr>
              <a:t>Prompt apa yang digunakan?</a:t>
            </a:r>
          </a:p>
          <a:p>
            <a:pPr algn="ctr">
              <a:lnSpc>
                <a:spcPts val="3072"/>
              </a:lnSpc>
            </a:pPr>
          </a:p>
          <a:p>
            <a:pPr algn="ctr">
              <a:lnSpc>
                <a:spcPts val="3072"/>
              </a:lnSpc>
            </a:pPr>
            <a:r>
              <a:rPr lang="en-US" sz="2400" spc="-69">
                <a:solidFill>
                  <a:srgbClr val="FFFFFF"/>
                </a:solidFill>
                <a:latin typeface="Neo Tech Light"/>
                <a:ea typeface="Neo Tech Light"/>
                <a:cs typeface="Neo Tech Light"/>
                <a:sym typeface="Neo Tech Light"/>
              </a:rPr>
              <a:t>"Buatkan file migration dan model Eloquent untuk tabel 'posts' dengan kolom judul, isi teks, dan relasi ke tabel users berdasarkan skema database saat ini."</a:t>
            </a:r>
          </a:p>
          <a:p>
            <a:pPr algn="ctr">
              <a:lnSpc>
                <a:spcPts val="3072"/>
              </a:lnSpc>
            </a:pPr>
            <a:r>
              <a:rPr lang="en-US" sz="2400" spc="-69">
                <a:solidFill>
                  <a:srgbClr val="FFFFFF"/>
                </a:solidFill>
                <a:latin typeface="Neo Tech Light"/>
                <a:ea typeface="Neo Tech Light"/>
                <a:cs typeface="Neo Tech Light"/>
                <a:sym typeface="Neo Tech Light"/>
              </a:rPr>
              <a:t>"Baca log error terakhir dari aplikasi dan jelaskan mengapa halaman daftar pengguna memunculkan layar putih kosong."</a:t>
            </a:r>
          </a:p>
        </p:txBody>
      </p:sp>
      <p:grpSp>
        <p:nvGrpSpPr>
          <p:cNvPr name="Group 24" id="24"/>
          <p:cNvGrpSpPr/>
          <p:nvPr/>
        </p:nvGrpSpPr>
        <p:grpSpPr>
          <a:xfrm rot="0">
            <a:off x="2044903" y="5705475"/>
            <a:ext cx="14198194" cy="2683761"/>
            <a:chOff x="0" y="0"/>
            <a:chExt cx="3739442" cy="706834"/>
          </a:xfrm>
        </p:grpSpPr>
        <p:sp>
          <p:nvSpPr>
            <p:cNvPr name="Freeform 25" id="25"/>
            <p:cNvSpPr/>
            <p:nvPr/>
          </p:nvSpPr>
          <p:spPr>
            <a:xfrm flipH="false" flipV="false" rot="0">
              <a:off x="0" y="0"/>
              <a:ext cx="3739442" cy="706834"/>
            </a:xfrm>
            <a:custGeom>
              <a:avLst/>
              <a:gdLst/>
              <a:ahLst/>
              <a:cxnLst/>
              <a:rect r="r" b="b" t="t" l="l"/>
              <a:pathLst>
                <a:path h="706834" w="3739442">
                  <a:moveTo>
                    <a:pt x="16358" y="0"/>
                  </a:moveTo>
                  <a:lnTo>
                    <a:pt x="3723084" y="0"/>
                  </a:lnTo>
                  <a:cubicBezTo>
                    <a:pt x="3732118" y="0"/>
                    <a:pt x="3739442" y="7324"/>
                    <a:pt x="3739442" y="16358"/>
                  </a:cubicBezTo>
                  <a:lnTo>
                    <a:pt x="3739442" y="690476"/>
                  </a:lnTo>
                  <a:cubicBezTo>
                    <a:pt x="3739442" y="699510"/>
                    <a:pt x="3732118" y="706834"/>
                    <a:pt x="3723084" y="706834"/>
                  </a:cubicBezTo>
                  <a:lnTo>
                    <a:pt x="16358" y="706834"/>
                  </a:lnTo>
                  <a:cubicBezTo>
                    <a:pt x="7324" y="706834"/>
                    <a:pt x="0" y="699510"/>
                    <a:pt x="0" y="690476"/>
                  </a:cubicBezTo>
                  <a:lnTo>
                    <a:pt x="0" y="16358"/>
                  </a:lnTo>
                  <a:cubicBezTo>
                    <a:pt x="0" y="7324"/>
                    <a:pt x="7324" y="0"/>
                    <a:pt x="16358" y="0"/>
                  </a:cubicBezTo>
                  <a:close/>
                </a:path>
              </a:pathLst>
            </a:custGeom>
            <a:ln w="85725" cap="rnd">
              <a:solidFill>
                <a:srgbClr val="1EF1FF"/>
              </a:solidFill>
              <a:prstDash val="solid"/>
              <a:round/>
            </a:ln>
          </p:spPr>
        </p:sp>
        <p:sp>
          <p:nvSpPr>
            <p:cNvPr name="TextBox 26" id="26"/>
            <p:cNvSpPr txBox="true"/>
            <p:nvPr/>
          </p:nvSpPr>
          <p:spPr>
            <a:xfrm>
              <a:off x="0" y="-38100"/>
              <a:ext cx="3739442" cy="744934"/>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93726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368905" cy="9258300"/>
            <a:chOff x="0" y="0"/>
            <a:chExt cx="4311152" cy="2438400"/>
          </a:xfrm>
        </p:grpSpPr>
        <p:sp>
          <p:nvSpPr>
            <p:cNvPr name="Freeform 14" id="14"/>
            <p:cNvSpPr/>
            <p:nvPr/>
          </p:nvSpPr>
          <p:spPr>
            <a:xfrm flipH="false" flipV="false" rot="0">
              <a:off x="0" y="0"/>
              <a:ext cx="4311152" cy="2438400"/>
            </a:xfrm>
            <a:custGeom>
              <a:avLst/>
              <a:gdLst/>
              <a:ahLst/>
              <a:cxnLst/>
              <a:rect r="r" b="b" t="t" l="l"/>
              <a:pathLst>
                <a:path h="2438400" w="4311152">
                  <a:moveTo>
                    <a:pt x="14189" y="0"/>
                  </a:moveTo>
                  <a:lnTo>
                    <a:pt x="4296963" y="0"/>
                  </a:lnTo>
                  <a:cubicBezTo>
                    <a:pt x="4304799" y="0"/>
                    <a:pt x="4311152" y="6353"/>
                    <a:pt x="4311152" y="14189"/>
                  </a:cubicBezTo>
                  <a:lnTo>
                    <a:pt x="4311152" y="2424211"/>
                  </a:lnTo>
                  <a:cubicBezTo>
                    <a:pt x="4311152" y="2432047"/>
                    <a:pt x="4304799" y="2438400"/>
                    <a:pt x="4296963" y="2438400"/>
                  </a:cubicBezTo>
                  <a:lnTo>
                    <a:pt x="14189" y="2438400"/>
                  </a:lnTo>
                  <a:cubicBezTo>
                    <a:pt x="6353" y="2438400"/>
                    <a:pt x="0" y="2432047"/>
                    <a:pt x="0" y="2424211"/>
                  </a:cubicBezTo>
                  <a:lnTo>
                    <a:pt x="0" y="14189"/>
                  </a:lnTo>
                  <a:cubicBezTo>
                    <a:pt x="0" y="6353"/>
                    <a:pt x="6353" y="0"/>
                    <a:pt x="14189" y="0"/>
                  </a:cubicBezTo>
                  <a:close/>
                </a:path>
              </a:pathLst>
            </a:custGeom>
            <a:ln w="85725" cap="rnd">
              <a:solidFill>
                <a:srgbClr val="1EF1FF"/>
              </a:solidFill>
              <a:prstDash val="solid"/>
              <a:round/>
            </a:ln>
          </p:spPr>
        </p:sp>
        <p:sp>
          <p:nvSpPr>
            <p:cNvPr name="TextBox 15" id="15"/>
            <p:cNvSpPr txBox="true"/>
            <p:nvPr/>
          </p:nvSpPr>
          <p:spPr>
            <a:xfrm>
              <a:off x="0" y="-38100"/>
              <a:ext cx="4311152" cy="247650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251092" y="6230864"/>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Freeform 19" id="19"/>
          <p:cNvSpPr/>
          <p:nvPr/>
        </p:nvSpPr>
        <p:spPr>
          <a:xfrm flipH="false" flipV="false" rot="0">
            <a:off x="1640597" y="875781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84041" y="875781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5200100" y="3448546"/>
            <a:ext cx="6600710" cy="2994887"/>
          </a:xfrm>
          <a:custGeom>
            <a:avLst/>
            <a:gdLst/>
            <a:ahLst/>
            <a:cxnLst/>
            <a:rect r="r" b="b" t="t" l="l"/>
            <a:pathLst>
              <a:path h="2994887" w="6600710">
                <a:moveTo>
                  <a:pt x="0" y="0"/>
                </a:moveTo>
                <a:lnTo>
                  <a:pt x="6600710" y="0"/>
                </a:lnTo>
                <a:lnTo>
                  <a:pt x="6600710" y="2994886"/>
                </a:lnTo>
                <a:lnTo>
                  <a:pt x="0" y="2994886"/>
                </a:lnTo>
                <a:lnTo>
                  <a:pt x="0" y="0"/>
                </a:lnTo>
                <a:close/>
              </a:path>
            </a:pathLst>
          </a:custGeom>
          <a:blipFill>
            <a:blip r:embed="rId10"/>
            <a:stretch>
              <a:fillRect l="-10884" t="0" r="-1657" b="-70345"/>
            </a:stretch>
          </a:blipFill>
        </p:spPr>
      </p:sp>
      <p:sp>
        <p:nvSpPr>
          <p:cNvPr name="TextBox 22" id="22"/>
          <p:cNvSpPr txBox="true"/>
          <p:nvPr/>
        </p:nvSpPr>
        <p:spPr>
          <a:xfrm rot="0">
            <a:off x="7230371" y="1973177"/>
            <a:ext cx="3827259" cy="1034201"/>
          </a:xfrm>
          <a:prstGeom prst="rect">
            <a:avLst/>
          </a:prstGeom>
        </p:spPr>
        <p:txBody>
          <a:bodyPr anchor="t" rtlCol="false" tIns="0" lIns="0" bIns="0" rIns="0">
            <a:spAutoFit/>
          </a:bodyPr>
          <a:lstStyle/>
          <a:p>
            <a:pPr algn="ctr">
              <a:lnSpc>
                <a:spcPts val="7394"/>
              </a:lnSpc>
            </a:pPr>
            <a:r>
              <a:rPr lang="en-US" b="true" sz="5776">
                <a:solidFill>
                  <a:srgbClr val="90F8FF"/>
                </a:solidFill>
                <a:latin typeface="Neo Tech Bold"/>
                <a:ea typeface="Neo Tech Bold"/>
                <a:cs typeface="Neo Tech Bold"/>
                <a:sym typeface="Neo Tech Bold"/>
              </a:rPr>
              <a:t>LANJUTAN </a:t>
            </a:r>
          </a:p>
        </p:txBody>
      </p:sp>
      <p:sp>
        <p:nvSpPr>
          <p:cNvPr name="TextBox 23" id="23"/>
          <p:cNvSpPr txBox="true"/>
          <p:nvPr/>
        </p:nvSpPr>
        <p:spPr>
          <a:xfrm rot="0">
            <a:off x="5200100" y="6675050"/>
            <a:ext cx="10816037" cy="2641454"/>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Fitur export ke dokumen PDF tidak menggunakan pustaka (library) eksternal berat seperti DomPDF atau Snappy, melainkan mengoptimalkan rendering engine bawaan browser melalui instruksi JavaScript window.print().</a:t>
            </a:r>
          </a:p>
        </p:txBody>
      </p:sp>
      <p:sp>
        <p:nvSpPr>
          <p:cNvPr name="TextBox 24" id="24"/>
          <p:cNvSpPr txBox="true"/>
          <p:nvPr/>
        </p:nvSpPr>
        <p:spPr>
          <a:xfrm rot="0">
            <a:off x="1640597" y="3238996"/>
            <a:ext cx="1684050" cy="669779"/>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Hasil AI :</a:t>
            </a:r>
          </a:p>
        </p:txBody>
      </p:sp>
      <p:sp>
        <p:nvSpPr>
          <p:cNvPr name="TextBox 25" id="25"/>
          <p:cNvSpPr txBox="true"/>
          <p:nvPr/>
        </p:nvSpPr>
        <p:spPr>
          <a:xfrm rot="0">
            <a:off x="1534519" y="6675050"/>
            <a:ext cx="2966809" cy="669779"/>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Analisis hasil AI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3599816" y="16761"/>
            <a:ext cx="10349757" cy="869064"/>
          </a:xfrm>
          <a:custGeom>
            <a:avLst/>
            <a:gdLst/>
            <a:ahLst/>
            <a:cxnLst/>
            <a:rect r="r" b="b" t="t" l="l"/>
            <a:pathLst>
              <a:path h="869064" w="10349757">
                <a:moveTo>
                  <a:pt x="0" y="0"/>
                </a:moveTo>
                <a:lnTo>
                  <a:pt x="10349757" y="0"/>
                </a:lnTo>
                <a:lnTo>
                  <a:pt x="10349757"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0" y="0"/>
            <a:ext cx="18288000" cy="10287000"/>
            <a:chOff x="0" y="0"/>
            <a:chExt cx="4816593" cy="2709333"/>
          </a:xfrm>
        </p:grpSpPr>
        <p:sp>
          <p:nvSpPr>
            <p:cNvPr name="Freeform 12" id="12"/>
            <p:cNvSpPr/>
            <p:nvPr/>
          </p:nvSpPr>
          <p:spPr>
            <a:xfrm flipH="false" flipV="false" rot="0">
              <a:off x="0" y="0"/>
              <a:ext cx="4816592" cy="2709333"/>
            </a:xfrm>
            <a:custGeom>
              <a:avLst/>
              <a:gdLst/>
              <a:ahLst/>
              <a:cxnLst/>
              <a:rect r="r" b="b" t="t" l="l"/>
              <a:pathLst>
                <a:path h="2709333" w="4816592">
                  <a:moveTo>
                    <a:pt x="12700" y="0"/>
                  </a:moveTo>
                  <a:lnTo>
                    <a:pt x="4803892" y="0"/>
                  </a:lnTo>
                  <a:cubicBezTo>
                    <a:pt x="4807261" y="0"/>
                    <a:pt x="4810491" y="1338"/>
                    <a:pt x="4812873" y="3720"/>
                  </a:cubicBezTo>
                  <a:cubicBezTo>
                    <a:pt x="4815255" y="6101"/>
                    <a:pt x="4816592" y="9332"/>
                    <a:pt x="4816592" y="12700"/>
                  </a:cubicBezTo>
                  <a:lnTo>
                    <a:pt x="4816592" y="2696633"/>
                  </a:lnTo>
                  <a:cubicBezTo>
                    <a:pt x="4816592" y="2703647"/>
                    <a:pt x="4810906" y="2709333"/>
                    <a:pt x="4803892" y="2709333"/>
                  </a:cubicBezTo>
                  <a:lnTo>
                    <a:pt x="12700" y="2709333"/>
                  </a:lnTo>
                  <a:cubicBezTo>
                    <a:pt x="5686" y="2709333"/>
                    <a:pt x="0" y="2703647"/>
                    <a:pt x="0" y="2696633"/>
                  </a:cubicBezTo>
                  <a:lnTo>
                    <a:pt x="0" y="12700"/>
                  </a:lnTo>
                  <a:cubicBezTo>
                    <a:pt x="0" y="5686"/>
                    <a:pt x="5686" y="0"/>
                    <a:pt x="12700" y="0"/>
                  </a:cubicBezTo>
                  <a:close/>
                </a:path>
              </a:pathLst>
            </a:custGeom>
            <a:ln w="85725" cap="rnd">
              <a:solidFill>
                <a:srgbClr val="1EF1FF"/>
              </a:solidFill>
              <a:prstDash val="solid"/>
              <a:round/>
            </a:ln>
          </p:spPr>
        </p:sp>
        <p:sp>
          <p:nvSpPr>
            <p:cNvPr name="TextBox 13" id="13"/>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847722" y="876300"/>
            <a:ext cx="12042247" cy="1034201"/>
          </a:xfrm>
          <a:prstGeom prst="rect">
            <a:avLst/>
          </a:prstGeom>
        </p:spPr>
        <p:txBody>
          <a:bodyPr anchor="t" rtlCol="false" tIns="0" lIns="0" bIns="0" rIns="0">
            <a:spAutoFit/>
          </a:bodyPr>
          <a:lstStyle/>
          <a:p>
            <a:pPr algn="ctr">
              <a:lnSpc>
                <a:spcPts val="7394"/>
              </a:lnSpc>
            </a:pPr>
            <a:r>
              <a:rPr lang="en-US" b="true" sz="5776">
                <a:solidFill>
                  <a:srgbClr val="90F8FF"/>
                </a:solidFill>
                <a:latin typeface="Neo Tech Bold"/>
                <a:ea typeface="Neo Tech Bold"/>
                <a:cs typeface="Neo Tech Bold"/>
                <a:sym typeface="Neo Tech Bold"/>
              </a:rPr>
              <a:t>PERBANDINGAN LARAVEL 12 &amp; 13</a:t>
            </a:r>
          </a:p>
        </p:txBody>
      </p:sp>
      <p:sp>
        <p:nvSpPr>
          <p:cNvPr name="TextBox 15" id="15"/>
          <p:cNvSpPr txBox="true"/>
          <p:nvPr/>
        </p:nvSpPr>
        <p:spPr>
          <a:xfrm rot="0">
            <a:off x="637573" y="1954127"/>
            <a:ext cx="17650427" cy="1076325"/>
          </a:xfrm>
          <a:prstGeom prst="rect">
            <a:avLst/>
          </a:prstGeom>
        </p:spPr>
        <p:txBody>
          <a:bodyPr anchor="t" rtlCol="false" tIns="0" lIns="0" bIns="0" rIns="0">
            <a:spAutoFit/>
          </a:bodyPr>
          <a:lstStyle/>
          <a:p>
            <a:pPr algn="l">
              <a:lnSpc>
                <a:spcPts val="4274"/>
              </a:lnSpc>
            </a:pPr>
            <a:r>
              <a:rPr lang="en-US" sz="2499" spc="27">
                <a:solidFill>
                  <a:srgbClr val="FFFFFF"/>
                </a:solidFill>
                <a:latin typeface="Neo Tech"/>
                <a:ea typeface="Neo Tech"/>
                <a:cs typeface="Neo Tech"/>
                <a:sym typeface="Neo Tech"/>
              </a:rPr>
              <a:t>Laravel versi terbaru membawa banyak sekali pembaruan arsitektur yang berfokus pada simplifikasi kode, performa eksekusi, dan kenyamanan developer (Developer Experience).</a:t>
            </a:r>
          </a:p>
        </p:txBody>
      </p:sp>
      <p:sp>
        <p:nvSpPr>
          <p:cNvPr name="TextBox 16" id="16"/>
          <p:cNvSpPr txBox="true"/>
          <p:nvPr/>
        </p:nvSpPr>
        <p:spPr>
          <a:xfrm rot="0">
            <a:off x="637573" y="3196388"/>
            <a:ext cx="17086304" cy="1609725"/>
          </a:xfrm>
          <a:prstGeom prst="rect">
            <a:avLst/>
          </a:prstGeom>
        </p:spPr>
        <p:txBody>
          <a:bodyPr anchor="t" rtlCol="false" tIns="0" lIns="0" bIns="0" rIns="0">
            <a:spAutoFit/>
          </a:bodyPr>
          <a:lstStyle/>
          <a:p>
            <a:pPr algn="l">
              <a:lnSpc>
                <a:spcPts val="4274"/>
              </a:lnSpc>
            </a:pPr>
            <a:r>
              <a:rPr lang="en-US" sz="2499" spc="27">
                <a:solidFill>
                  <a:srgbClr val="FFFFFF"/>
                </a:solidFill>
                <a:latin typeface="Neo Tech"/>
                <a:ea typeface="Neo Tech"/>
                <a:cs typeface="Neo Tech"/>
                <a:sym typeface="Neo Tech"/>
              </a:rPr>
              <a:t>Sebagai context, Laravel 11 ke 12 berfokus pada pembersihan struktur folder, sedangkan transisi ke Laravel 13 menyempurnakan fitur-fitur modern seperti penanganan API, sistem Queue yang lebih pintar, dan sintaksis berbasis atribut PHP yang makin bersih.</a:t>
            </a:r>
          </a:p>
        </p:txBody>
      </p:sp>
      <p:sp>
        <p:nvSpPr>
          <p:cNvPr name="TextBox 17" id="17"/>
          <p:cNvSpPr txBox="true"/>
          <p:nvPr/>
        </p:nvSpPr>
        <p:spPr>
          <a:xfrm rot="0">
            <a:off x="637573" y="5153025"/>
            <a:ext cx="4654689"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PrefersJsonResponses()</a:t>
            </a:r>
          </a:p>
        </p:txBody>
      </p:sp>
      <p:sp>
        <p:nvSpPr>
          <p:cNvPr name="TextBox 18" id="18"/>
          <p:cNvSpPr txBox="true"/>
          <p:nvPr/>
        </p:nvSpPr>
        <p:spPr>
          <a:xfrm rot="0">
            <a:off x="637573" y="6051404"/>
            <a:ext cx="17086304" cy="1609725"/>
          </a:xfrm>
          <a:prstGeom prst="rect">
            <a:avLst/>
          </a:prstGeom>
        </p:spPr>
        <p:txBody>
          <a:bodyPr anchor="t" rtlCol="false" tIns="0" lIns="0" bIns="0" rIns="0">
            <a:spAutoFit/>
          </a:bodyPr>
          <a:lstStyle/>
          <a:p>
            <a:pPr algn="l">
              <a:lnSpc>
                <a:spcPts val="4274"/>
              </a:lnSpc>
            </a:pPr>
            <a:r>
              <a:rPr lang="en-US" sz="2499" spc="27" b="true">
                <a:solidFill>
                  <a:srgbClr val="FFFFFF"/>
                </a:solidFill>
                <a:latin typeface="Neo Tech Bold"/>
                <a:ea typeface="Neo Tech Bold"/>
                <a:cs typeface="Neo Tech Bold"/>
                <a:sym typeface="Neo Tech Bold"/>
              </a:rPr>
              <a:t>Perubahan </a:t>
            </a:r>
            <a:r>
              <a:rPr lang="en-US" sz="2499" spc="27">
                <a:solidFill>
                  <a:srgbClr val="FFFFFF"/>
                </a:solidFill>
                <a:latin typeface="Neo Tech"/>
                <a:ea typeface="Neo Tech"/>
                <a:cs typeface="Neo Tech"/>
                <a:sym typeface="Neo Tech"/>
              </a:rPr>
              <a:t>: Pada Laravel 12, jika sebuah aplikasi luar (seperti Android) menembak endpoint API (/api/siswa) dan terjadi kesalahan (error server atau gagal validasi input), Laravel secara default akan mengirimkan balikan berupa halaman web HTML utuh (halaman error merah khas Laravel). </a:t>
            </a:r>
          </a:p>
        </p:txBody>
      </p:sp>
      <p:sp>
        <p:nvSpPr>
          <p:cNvPr name="TextBox 19" id="19"/>
          <p:cNvSpPr txBox="true"/>
          <p:nvPr/>
        </p:nvSpPr>
        <p:spPr>
          <a:xfrm rot="0">
            <a:off x="637573" y="7899254"/>
            <a:ext cx="17086304" cy="2143125"/>
          </a:xfrm>
          <a:prstGeom prst="rect">
            <a:avLst/>
          </a:prstGeom>
        </p:spPr>
        <p:txBody>
          <a:bodyPr anchor="t" rtlCol="false" tIns="0" lIns="0" bIns="0" rIns="0">
            <a:spAutoFit/>
          </a:bodyPr>
          <a:lstStyle/>
          <a:p>
            <a:pPr algn="l">
              <a:lnSpc>
                <a:spcPts val="4274"/>
              </a:lnSpc>
            </a:pPr>
            <a:r>
              <a:rPr lang="en-US" sz="2499" spc="27" b="true">
                <a:solidFill>
                  <a:srgbClr val="FFFFFF"/>
                </a:solidFill>
                <a:latin typeface="Neo Tech Bold"/>
                <a:ea typeface="Neo Tech Bold"/>
                <a:cs typeface="Neo Tech Bold"/>
                <a:sym typeface="Neo Tech Bold"/>
              </a:rPr>
              <a:t>Improvement di Laravel 13</a:t>
            </a:r>
            <a:r>
              <a:rPr lang="en-US" sz="2499" spc="27">
                <a:solidFill>
                  <a:srgbClr val="FFFFFF"/>
                </a:solidFill>
                <a:latin typeface="Neo Tech"/>
                <a:ea typeface="Neo Tech"/>
                <a:cs typeface="Neo Tech"/>
                <a:sym typeface="Neo Tech"/>
              </a:rPr>
              <a:t> : Laravel 13 memperkenalkan metode global prefersJsonResponses(). Dengan fitur ini, cukup disetel satu kali di pusat konfigurasi sistem, Laravel menjamin rute API pasti selalu membalas dalam bentuk teks JSON murni, baik ketika prosesnya sukses maupun saat sistem mengalami error hancur sekalipun. Aplikasi luar pun menjadi jauh lebih stabil saat membaca data dari proyekmu.</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770017" y="0"/>
            <a:ext cx="10349757" cy="869064"/>
          </a:xfrm>
          <a:custGeom>
            <a:avLst/>
            <a:gdLst/>
            <a:ahLst/>
            <a:cxnLst/>
            <a:rect r="r" b="b" t="t" l="l"/>
            <a:pathLst>
              <a:path h="869064" w="10349757">
                <a:moveTo>
                  <a:pt x="0" y="0"/>
                </a:moveTo>
                <a:lnTo>
                  <a:pt x="10349757" y="0"/>
                </a:lnTo>
                <a:lnTo>
                  <a:pt x="10349757"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0" y="0"/>
            <a:ext cx="18288000" cy="10287000"/>
            <a:chOff x="0" y="0"/>
            <a:chExt cx="4816593" cy="2709333"/>
          </a:xfrm>
        </p:grpSpPr>
        <p:sp>
          <p:nvSpPr>
            <p:cNvPr name="Freeform 13" id="13"/>
            <p:cNvSpPr/>
            <p:nvPr/>
          </p:nvSpPr>
          <p:spPr>
            <a:xfrm flipH="false" flipV="false" rot="0">
              <a:off x="0" y="0"/>
              <a:ext cx="4816592" cy="2709333"/>
            </a:xfrm>
            <a:custGeom>
              <a:avLst/>
              <a:gdLst/>
              <a:ahLst/>
              <a:cxnLst/>
              <a:rect r="r" b="b" t="t" l="l"/>
              <a:pathLst>
                <a:path h="2709333" w="4816592">
                  <a:moveTo>
                    <a:pt x="12700" y="0"/>
                  </a:moveTo>
                  <a:lnTo>
                    <a:pt x="4803892" y="0"/>
                  </a:lnTo>
                  <a:cubicBezTo>
                    <a:pt x="4807261" y="0"/>
                    <a:pt x="4810491" y="1338"/>
                    <a:pt x="4812873" y="3720"/>
                  </a:cubicBezTo>
                  <a:cubicBezTo>
                    <a:pt x="4815255" y="6101"/>
                    <a:pt x="4816592" y="9332"/>
                    <a:pt x="4816592" y="12700"/>
                  </a:cubicBezTo>
                  <a:lnTo>
                    <a:pt x="4816592" y="2696633"/>
                  </a:lnTo>
                  <a:cubicBezTo>
                    <a:pt x="4816592" y="2703647"/>
                    <a:pt x="4810906" y="2709333"/>
                    <a:pt x="4803892" y="2709333"/>
                  </a:cubicBezTo>
                  <a:lnTo>
                    <a:pt x="12700" y="2709333"/>
                  </a:lnTo>
                  <a:cubicBezTo>
                    <a:pt x="5686" y="2709333"/>
                    <a:pt x="0" y="2703647"/>
                    <a:pt x="0" y="2696633"/>
                  </a:cubicBezTo>
                  <a:lnTo>
                    <a:pt x="0" y="12700"/>
                  </a:lnTo>
                  <a:cubicBezTo>
                    <a:pt x="0" y="5686"/>
                    <a:pt x="5686" y="0"/>
                    <a:pt x="12700" y="0"/>
                  </a:cubicBezTo>
                  <a:close/>
                </a:path>
              </a:pathLst>
            </a:custGeom>
            <a:ln w="85725" cap="rnd">
              <a:solidFill>
                <a:srgbClr val="1EF1FF"/>
              </a:solidFill>
              <a:prstDash val="solid"/>
              <a:round/>
            </a:ln>
          </p:spPr>
        </p:sp>
        <p:sp>
          <p:nvSpPr>
            <p:cNvPr name="TextBox 14" id="1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7221109" y="806398"/>
            <a:ext cx="3447574" cy="999726"/>
          </a:xfrm>
          <a:prstGeom prst="rect">
            <a:avLst/>
          </a:prstGeom>
        </p:spPr>
        <p:txBody>
          <a:bodyPr anchor="t" rtlCol="false" tIns="0" lIns="0" bIns="0" rIns="0">
            <a:spAutoFit/>
          </a:bodyPr>
          <a:lstStyle/>
          <a:p>
            <a:pPr algn="ctr">
              <a:lnSpc>
                <a:spcPts val="7010"/>
              </a:lnSpc>
            </a:pPr>
            <a:r>
              <a:rPr lang="en-US" b="true" sz="5476">
                <a:solidFill>
                  <a:srgbClr val="90F8FF"/>
                </a:solidFill>
                <a:latin typeface="Neo Tech Bold"/>
                <a:ea typeface="Neo Tech Bold"/>
                <a:cs typeface="Neo Tech Bold"/>
                <a:sym typeface="Neo Tech Bold"/>
              </a:rPr>
              <a:t>LANJUTAN</a:t>
            </a:r>
          </a:p>
        </p:txBody>
      </p:sp>
      <p:sp>
        <p:nvSpPr>
          <p:cNvPr name="TextBox 16" id="16"/>
          <p:cNvSpPr txBox="true"/>
          <p:nvPr/>
        </p:nvSpPr>
        <p:spPr>
          <a:xfrm rot="0">
            <a:off x="590197" y="2791045"/>
            <a:ext cx="4231791"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Attribute Middleware</a:t>
            </a:r>
          </a:p>
        </p:txBody>
      </p:sp>
      <p:sp>
        <p:nvSpPr>
          <p:cNvPr name="TextBox 17" id="17"/>
          <p:cNvSpPr txBox="true"/>
          <p:nvPr/>
        </p:nvSpPr>
        <p:spPr>
          <a:xfrm rot="0">
            <a:off x="590197" y="3717998"/>
            <a:ext cx="17491375" cy="2641454"/>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Perubahan: Pada Laravel 12, untuk mengunci sebuah fungsi di Controller agar hanya bisa diakses oleh pengguna yang login, kita harus menuliskan kodenya secara terpisah di file rute (routes/web.php atau routes/api.php) dengan metode menyambung kode (chaining method) seperti: Route::get(...)-&gt;middleware('auth');.</a:t>
            </a:r>
          </a:p>
        </p:txBody>
      </p:sp>
      <p:sp>
        <p:nvSpPr>
          <p:cNvPr name="TextBox 18" id="18"/>
          <p:cNvSpPr txBox="true"/>
          <p:nvPr/>
        </p:nvSpPr>
        <p:spPr>
          <a:xfrm rot="0">
            <a:off x="590197" y="6616846"/>
            <a:ext cx="14808431" cy="2641454"/>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Improvement di Laravel 13: Laravel 13 mendukung penuh fitur Attribute Middleware bawaan PHP modern. Sekarang, kamu bisa menempelkan instruksi keamanan langsung di dalam file Controller, tepat satu baris di atas fungsi yang ingin dikunci menggunakan tanda #[Middleware('auth')].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0" y="0"/>
            <a:ext cx="18288000" cy="10287000"/>
            <a:chOff x="0" y="0"/>
            <a:chExt cx="4816593" cy="2709333"/>
          </a:xfrm>
        </p:grpSpPr>
        <p:sp>
          <p:nvSpPr>
            <p:cNvPr name="Freeform 12" id="12"/>
            <p:cNvSpPr/>
            <p:nvPr/>
          </p:nvSpPr>
          <p:spPr>
            <a:xfrm flipH="false" flipV="false" rot="0">
              <a:off x="0" y="0"/>
              <a:ext cx="4816592" cy="2709333"/>
            </a:xfrm>
            <a:custGeom>
              <a:avLst/>
              <a:gdLst/>
              <a:ahLst/>
              <a:cxnLst/>
              <a:rect r="r" b="b" t="t" l="l"/>
              <a:pathLst>
                <a:path h="2709333" w="4816592">
                  <a:moveTo>
                    <a:pt x="12700" y="0"/>
                  </a:moveTo>
                  <a:lnTo>
                    <a:pt x="4803892" y="0"/>
                  </a:lnTo>
                  <a:cubicBezTo>
                    <a:pt x="4807261" y="0"/>
                    <a:pt x="4810491" y="1338"/>
                    <a:pt x="4812873" y="3720"/>
                  </a:cubicBezTo>
                  <a:cubicBezTo>
                    <a:pt x="4815255" y="6101"/>
                    <a:pt x="4816592" y="9332"/>
                    <a:pt x="4816592" y="12700"/>
                  </a:cubicBezTo>
                  <a:lnTo>
                    <a:pt x="4816592" y="2696633"/>
                  </a:lnTo>
                  <a:cubicBezTo>
                    <a:pt x="4816592" y="2703647"/>
                    <a:pt x="4810906" y="2709333"/>
                    <a:pt x="4803892" y="2709333"/>
                  </a:cubicBezTo>
                  <a:lnTo>
                    <a:pt x="12700" y="2709333"/>
                  </a:lnTo>
                  <a:cubicBezTo>
                    <a:pt x="5686" y="2709333"/>
                    <a:pt x="0" y="2703647"/>
                    <a:pt x="0" y="2696633"/>
                  </a:cubicBezTo>
                  <a:lnTo>
                    <a:pt x="0" y="12700"/>
                  </a:lnTo>
                  <a:cubicBezTo>
                    <a:pt x="0" y="5686"/>
                    <a:pt x="5686" y="0"/>
                    <a:pt x="12700" y="0"/>
                  </a:cubicBezTo>
                  <a:close/>
                </a:path>
              </a:pathLst>
            </a:custGeom>
            <a:ln w="85725" cap="rnd">
              <a:solidFill>
                <a:srgbClr val="1EF1FF"/>
              </a:solidFill>
              <a:prstDash val="solid"/>
              <a:round/>
            </a:ln>
          </p:spPr>
        </p:sp>
        <p:sp>
          <p:nvSpPr>
            <p:cNvPr name="TextBox 13" id="13"/>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44134" y="2529566"/>
            <a:ext cx="4613051" cy="3030366"/>
          </a:xfrm>
          <a:custGeom>
            <a:avLst/>
            <a:gdLst/>
            <a:ahLst/>
            <a:cxnLst/>
            <a:rect r="r" b="b" t="t" l="l"/>
            <a:pathLst>
              <a:path h="3030366" w="4613051">
                <a:moveTo>
                  <a:pt x="0" y="0"/>
                </a:moveTo>
                <a:lnTo>
                  <a:pt x="4613051" y="0"/>
                </a:lnTo>
                <a:lnTo>
                  <a:pt x="4613051" y="3030366"/>
                </a:lnTo>
                <a:lnTo>
                  <a:pt x="0" y="3030366"/>
                </a:lnTo>
                <a:lnTo>
                  <a:pt x="0" y="0"/>
                </a:lnTo>
                <a:close/>
              </a:path>
            </a:pathLst>
          </a:custGeom>
          <a:blipFill>
            <a:blip r:embed="rId3"/>
            <a:stretch>
              <a:fillRect l="-4786" t="0" r="0" b="0"/>
            </a:stretch>
          </a:blipFill>
        </p:spPr>
      </p:sp>
      <p:sp>
        <p:nvSpPr>
          <p:cNvPr name="Freeform 15" id="15"/>
          <p:cNvSpPr/>
          <p:nvPr/>
        </p:nvSpPr>
        <p:spPr>
          <a:xfrm flipH="false" flipV="false" rot="0">
            <a:off x="6303058" y="2587602"/>
            <a:ext cx="11301259" cy="1158379"/>
          </a:xfrm>
          <a:custGeom>
            <a:avLst/>
            <a:gdLst/>
            <a:ahLst/>
            <a:cxnLst/>
            <a:rect r="r" b="b" t="t" l="l"/>
            <a:pathLst>
              <a:path h="1158379" w="11301259">
                <a:moveTo>
                  <a:pt x="0" y="0"/>
                </a:moveTo>
                <a:lnTo>
                  <a:pt x="11301259" y="0"/>
                </a:lnTo>
                <a:lnTo>
                  <a:pt x="11301259" y="1158379"/>
                </a:lnTo>
                <a:lnTo>
                  <a:pt x="0" y="1158379"/>
                </a:lnTo>
                <a:lnTo>
                  <a:pt x="0" y="0"/>
                </a:lnTo>
                <a:close/>
              </a:path>
            </a:pathLst>
          </a:custGeom>
          <a:blipFill>
            <a:blip r:embed="rId4"/>
            <a:stretch>
              <a:fillRect l="0" t="0" r="0" b="0"/>
            </a:stretch>
          </a:blipFill>
        </p:spPr>
      </p:sp>
      <p:sp>
        <p:nvSpPr>
          <p:cNvPr name="Freeform 16" id="16"/>
          <p:cNvSpPr/>
          <p:nvPr/>
        </p:nvSpPr>
        <p:spPr>
          <a:xfrm flipH="false" flipV="false" rot="0">
            <a:off x="844134" y="6723533"/>
            <a:ext cx="7222607" cy="3268230"/>
          </a:xfrm>
          <a:custGeom>
            <a:avLst/>
            <a:gdLst/>
            <a:ahLst/>
            <a:cxnLst/>
            <a:rect r="r" b="b" t="t" l="l"/>
            <a:pathLst>
              <a:path h="3268230" w="7222607">
                <a:moveTo>
                  <a:pt x="0" y="0"/>
                </a:moveTo>
                <a:lnTo>
                  <a:pt x="7222607" y="0"/>
                </a:lnTo>
                <a:lnTo>
                  <a:pt x="7222607" y="3268230"/>
                </a:lnTo>
                <a:lnTo>
                  <a:pt x="0" y="3268230"/>
                </a:lnTo>
                <a:lnTo>
                  <a:pt x="0" y="0"/>
                </a:lnTo>
                <a:close/>
              </a:path>
            </a:pathLst>
          </a:custGeom>
          <a:blipFill>
            <a:blip r:embed="rId5"/>
            <a:stretch>
              <a:fillRect l="0" t="0" r="0" b="0"/>
            </a:stretch>
          </a:blipFill>
        </p:spPr>
      </p:sp>
      <p:sp>
        <p:nvSpPr>
          <p:cNvPr name="Freeform 17" id="17"/>
          <p:cNvSpPr/>
          <p:nvPr/>
        </p:nvSpPr>
        <p:spPr>
          <a:xfrm flipH="false" flipV="false" rot="0">
            <a:off x="10183766" y="5289758"/>
            <a:ext cx="5905187" cy="4702005"/>
          </a:xfrm>
          <a:custGeom>
            <a:avLst/>
            <a:gdLst/>
            <a:ahLst/>
            <a:cxnLst/>
            <a:rect r="r" b="b" t="t" l="l"/>
            <a:pathLst>
              <a:path h="4702005" w="5905187">
                <a:moveTo>
                  <a:pt x="0" y="0"/>
                </a:moveTo>
                <a:lnTo>
                  <a:pt x="5905187" y="0"/>
                </a:lnTo>
                <a:lnTo>
                  <a:pt x="5905187" y="4702005"/>
                </a:lnTo>
                <a:lnTo>
                  <a:pt x="0" y="4702005"/>
                </a:lnTo>
                <a:lnTo>
                  <a:pt x="0" y="0"/>
                </a:lnTo>
                <a:close/>
              </a:path>
            </a:pathLst>
          </a:custGeom>
          <a:blipFill>
            <a:blip r:embed="rId6"/>
            <a:stretch>
              <a:fillRect l="0" t="0" r="0" b="0"/>
            </a:stretch>
          </a:blipFill>
        </p:spPr>
      </p:sp>
      <p:sp>
        <p:nvSpPr>
          <p:cNvPr name="TextBox 18" id="18"/>
          <p:cNvSpPr txBox="true"/>
          <p:nvPr/>
        </p:nvSpPr>
        <p:spPr>
          <a:xfrm rot="0">
            <a:off x="4948889" y="253106"/>
            <a:ext cx="7815031" cy="936978"/>
          </a:xfrm>
          <a:prstGeom prst="rect">
            <a:avLst/>
          </a:prstGeom>
        </p:spPr>
        <p:txBody>
          <a:bodyPr anchor="t" rtlCol="false" tIns="0" lIns="0" bIns="0" rIns="0">
            <a:spAutoFit/>
          </a:bodyPr>
          <a:lstStyle/>
          <a:p>
            <a:pPr algn="ctr">
              <a:lnSpc>
                <a:spcPts val="6644"/>
              </a:lnSpc>
            </a:pPr>
            <a:r>
              <a:rPr lang="en-US" b="true" sz="5191">
                <a:solidFill>
                  <a:srgbClr val="90F8FF"/>
                </a:solidFill>
                <a:latin typeface="Neo Tech Bold"/>
                <a:ea typeface="Neo Tech Bold"/>
                <a:cs typeface="Neo Tech Bold"/>
                <a:sym typeface="Neo Tech Bold"/>
              </a:rPr>
              <a:t>SCREENSHOOT  PROJECT </a:t>
            </a:r>
          </a:p>
        </p:txBody>
      </p:sp>
      <p:sp>
        <p:nvSpPr>
          <p:cNvPr name="TextBox 19" id="19"/>
          <p:cNvSpPr txBox="true"/>
          <p:nvPr/>
        </p:nvSpPr>
        <p:spPr>
          <a:xfrm rot="0">
            <a:off x="844134" y="1685912"/>
            <a:ext cx="2306525"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Dashboard : </a:t>
            </a:r>
          </a:p>
        </p:txBody>
      </p:sp>
      <p:sp>
        <p:nvSpPr>
          <p:cNvPr name="TextBox 20" id="20"/>
          <p:cNvSpPr txBox="true"/>
          <p:nvPr/>
        </p:nvSpPr>
        <p:spPr>
          <a:xfrm rot="0">
            <a:off x="6303058" y="1685912"/>
            <a:ext cx="2306525"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Api : </a:t>
            </a:r>
          </a:p>
        </p:txBody>
      </p:sp>
      <p:sp>
        <p:nvSpPr>
          <p:cNvPr name="TextBox 21" id="21"/>
          <p:cNvSpPr txBox="true"/>
          <p:nvPr/>
        </p:nvSpPr>
        <p:spPr>
          <a:xfrm rot="0">
            <a:off x="844134" y="5842520"/>
            <a:ext cx="2306525"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Database :</a:t>
            </a:r>
          </a:p>
        </p:txBody>
      </p:sp>
      <p:sp>
        <p:nvSpPr>
          <p:cNvPr name="TextBox 22" id="22"/>
          <p:cNvSpPr txBox="true"/>
          <p:nvPr/>
        </p:nvSpPr>
        <p:spPr>
          <a:xfrm rot="0">
            <a:off x="10183766" y="4340985"/>
            <a:ext cx="2580154"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Fitur Utama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594168"/>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4123980" y="8793723"/>
            <a:ext cx="10349757" cy="869064"/>
          </a:xfrm>
          <a:custGeom>
            <a:avLst/>
            <a:gdLst/>
            <a:ahLst/>
            <a:cxnLst/>
            <a:rect r="r" b="b" t="t" l="l"/>
            <a:pathLst>
              <a:path h="869064" w="10349757">
                <a:moveTo>
                  <a:pt x="0" y="0"/>
                </a:moveTo>
                <a:lnTo>
                  <a:pt x="10349757" y="0"/>
                </a:lnTo>
                <a:lnTo>
                  <a:pt x="10349757"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314282"/>
            <a:ext cx="16230600" cy="9497085"/>
            <a:chOff x="0" y="0"/>
            <a:chExt cx="4274726" cy="2501290"/>
          </a:xfrm>
        </p:grpSpPr>
        <p:sp>
          <p:nvSpPr>
            <p:cNvPr name="Freeform 14" id="14"/>
            <p:cNvSpPr/>
            <p:nvPr/>
          </p:nvSpPr>
          <p:spPr>
            <a:xfrm flipH="false" flipV="false" rot="0">
              <a:off x="0" y="0"/>
              <a:ext cx="4274726" cy="2501290"/>
            </a:xfrm>
            <a:custGeom>
              <a:avLst/>
              <a:gdLst/>
              <a:ahLst/>
              <a:cxnLst/>
              <a:rect r="r" b="b" t="t" l="l"/>
              <a:pathLst>
                <a:path h="2501290" w="4274726">
                  <a:moveTo>
                    <a:pt x="14310" y="0"/>
                  </a:moveTo>
                  <a:lnTo>
                    <a:pt x="4260416" y="0"/>
                  </a:lnTo>
                  <a:cubicBezTo>
                    <a:pt x="4264211" y="0"/>
                    <a:pt x="4267851" y="1508"/>
                    <a:pt x="4270535" y="4191"/>
                  </a:cubicBezTo>
                  <a:cubicBezTo>
                    <a:pt x="4273218" y="6875"/>
                    <a:pt x="4274726" y="10515"/>
                    <a:pt x="4274726" y="14310"/>
                  </a:cubicBezTo>
                  <a:lnTo>
                    <a:pt x="4274726" y="2486980"/>
                  </a:lnTo>
                  <a:cubicBezTo>
                    <a:pt x="4274726" y="2490775"/>
                    <a:pt x="4273218" y="2494415"/>
                    <a:pt x="4270535" y="2497099"/>
                  </a:cubicBezTo>
                  <a:cubicBezTo>
                    <a:pt x="4267851" y="2499782"/>
                    <a:pt x="4264211" y="2501290"/>
                    <a:pt x="4260416" y="2501290"/>
                  </a:cubicBezTo>
                  <a:lnTo>
                    <a:pt x="14310" y="2501290"/>
                  </a:lnTo>
                  <a:cubicBezTo>
                    <a:pt x="10515" y="2501290"/>
                    <a:pt x="6875" y="2499782"/>
                    <a:pt x="4191" y="2497099"/>
                  </a:cubicBezTo>
                  <a:cubicBezTo>
                    <a:pt x="1508" y="2494415"/>
                    <a:pt x="0" y="2490775"/>
                    <a:pt x="0" y="2486980"/>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name="TextBox 15" id="15"/>
            <p:cNvSpPr txBox="true"/>
            <p:nvPr/>
          </p:nvSpPr>
          <p:spPr>
            <a:xfrm>
              <a:off x="0" y="-38100"/>
              <a:ext cx="4274726" cy="253939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6945860" y="1585650"/>
            <a:ext cx="4396280" cy="936978"/>
          </a:xfrm>
          <a:prstGeom prst="rect">
            <a:avLst/>
          </a:prstGeom>
        </p:spPr>
        <p:txBody>
          <a:bodyPr anchor="t" rtlCol="false" tIns="0" lIns="0" bIns="0" rIns="0">
            <a:spAutoFit/>
          </a:bodyPr>
          <a:lstStyle/>
          <a:p>
            <a:pPr algn="ctr">
              <a:lnSpc>
                <a:spcPts val="6644"/>
              </a:lnSpc>
            </a:pPr>
            <a:r>
              <a:rPr lang="en-US" b="true" sz="5191">
                <a:solidFill>
                  <a:srgbClr val="90F8FF"/>
                </a:solidFill>
                <a:latin typeface="Neo Tech Bold"/>
                <a:ea typeface="Neo Tech Bold"/>
                <a:cs typeface="Neo Tech Bold"/>
                <a:sym typeface="Neo Tech Bold"/>
              </a:rPr>
              <a:t>KESIMPULAN </a:t>
            </a:r>
          </a:p>
        </p:txBody>
      </p:sp>
      <p:sp>
        <p:nvSpPr>
          <p:cNvPr name="Freeform 17" id="17"/>
          <p:cNvSpPr/>
          <p:nvPr/>
        </p:nvSpPr>
        <p:spPr>
          <a:xfrm flipH="false" flipV="false" rot="0">
            <a:off x="2863064" y="1964079"/>
            <a:ext cx="3507719" cy="242352"/>
          </a:xfrm>
          <a:custGeom>
            <a:avLst/>
            <a:gdLst/>
            <a:ahLst/>
            <a:cxnLst/>
            <a:rect r="r" b="b" t="t" l="l"/>
            <a:pathLst>
              <a:path h="242352" w="3507719">
                <a:moveTo>
                  <a:pt x="0" y="0"/>
                </a:moveTo>
                <a:lnTo>
                  <a:pt x="3507720" y="0"/>
                </a:lnTo>
                <a:lnTo>
                  <a:pt x="3507720"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true" flipV="false" rot="0">
            <a:off x="11762357" y="1964079"/>
            <a:ext cx="3507719" cy="242352"/>
          </a:xfrm>
          <a:custGeom>
            <a:avLst/>
            <a:gdLst/>
            <a:ahLst/>
            <a:cxnLst/>
            <a:rect r="r" b="b" t="t" l="l"/>
            <a:pathLst>
              <a:path h="242352" w="3507719">
                <a:moveTo>
                  <a:pt x="3507720" y="0"/>
                </a:moveTo>
                <a:lnTo>
                  <a:pt x="0" y="0"/>
                </a:lnTo>
                <a:lnTo>
                  <a:pt x="0" y="242351"/>
                </a:lnTo>
                <a:lnTo>
                  <a:pt x="3507720" y="242351"/>
                </a:lnTo>
                <a:lnTo>
                  <a:pt x="350772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873313" y="3470799"/>
            <a:ext cx="14386512" cy="1438656"/>
          </a:xfrm>
          <a:prstGeom prst="rect">
            <a:avLst/>
          </a:prstGeom>
        </p:spPr>
        <p:txBody>
          <a:bodyPr anchor="t" rtlCol="false" tIns="0" lIns="0" bIns="0" rIns="0">
            <a:spAutoFit/>
          </a:bodyPr>
          <a:lstStyle/>
          <a:p>
            <a:pPr algn="l">
              <a:lnSpc>
                <a:spcPts val="3761"/>
              </a:lnSpc>
            </a:pPr>
            <a:r>
              <a:rPr lang="en-US" sz="2199" spc="24">
                <a:solidFill>
                  <a:srgbClr val="FFFFFF"/>
                </a:solidFill>
                <a:latin typeface="Neo Tech"/>
                <a:ea typeface="Neo Tech"/>
                <a:cs typeface="Neo Tech"/>
                <a:sym typeface="Neo Tech"/>
              </a:rPr>
              <a:t>Koding Berbasis Efisiensi: Berhasil mempelajari cara mengintegrasikan logika bisnis sekolah (CRUD siswa dan sistem presensi harian) menggunakan arsitektur modern Laravel 13 yang jauh lebih bersih (Less Code, More Power).</a:t>
            </a:r>
          </a:p>
        </p:txBody>
      </p:sp>
      <p:sp>
        <p:nvSpPr>
          <p:cNvPr name="TextBox 20" id="20"/>
          <p:cNvSpPr txBox="true"/>
          <p:nvPr/>
        </p:nvSpPr>
        <p:spPr>
          <a:xfrm rot="0">
            <a:off x="1873313" y="2686720"/>
            <a:ext cx="4162534"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Apa yang dipelajari :</a:t>
            </a:r>
          </a:p>
        </p:txBody>
      </p:sp>
      <p:sp>
        <p:nvSpPr>
          <p:cNvPr name="TextBox 21" id="21"/>
          <p:cNvSpPr txBox="true"/>
          <p:nvPr/>
        </p:nvSpPr>
        <p:spPr>
          <a:xfrm rot="0">
            <a:off x="1873313" y="4853275"/>
            <a:ext cx="1883607"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Kendala : </a:t>
            </a:r>
          </a:p>
        </p:txBody>
      </p:sp>
      <p:sp>
        <p:nvSpPr>
          <p:cNvPr name="TextBox 22" id="22"/>
          <p:cNvSpPr txBox="true"/>
          <p:nvPr/>
        </p:nvSpPr>
        <p:spPr>
          <a:xfrm rot="0">
            <a:off x="1873313" y="5637353"/>
            <a:ext cx="14386512" cy="962406"/>
          </a:xfrm>
          <a:prstGeom prst="rect">
            <a:avLst/>
          </a:prstGeom>
        </p:spPr>
        <p:txBody>
          <a:bodyPr anchor="t" rtlCol="false" tIns="0" lIns="0" bIns="0" rIns="0">
            <a:spAutoFit/>
          </a:bodyPr>
          <a:lstStyle/>
          <a:p>
            <a:pPr algn="l">
              <a:lnSpc>
                <a:spcPts val="3761"/>
              </a:lnSpc>
            </a:pPr>
            <a:r>
              <a:rPr lang="en-US" sz="2199" spc="24">
                <a:solidFill>
                  <a:srgbClr val="FFFFFF"/>
                </a:solidFill>
                <a:latin typeface="Neo Tech"/>
                <a:ea typeface="Neo Tech"/>
                <a:cs typeface="Neo Tech"/>
                <a:sym typeface="Neo Tech"/>
              </a:rPr>
              <a:t>Manajemen Error pada Jalur API: Menghindari risiko crash pada aplikasi eksternal di masa depan jika rute API keliru mengembalikan respon mentah dalam bentuk dokumen HTML saat terjadi kegagalan sistem.</a:t>
            </a:r>
          </a:p>
        </p:txBody>
      </p:sp>
      <p:sp>
        <p:nvSpPr>
          <p:cNvPr name="TextBox 23" id="23"/>
          <p:cNvSpPr txBox="true"/>
          <p:nvPr/>
        </p:nvSpPr>
        <p:spPr>
          <a:xfrm rot="0">
            <a:off x="1873313" y="6656909"/>
            <a:ext cx="2572589" cy="669779"/>
          </a:xfrm>
          <a:prstGeom prst="rect">
            <a:avLst/>
          </a:prstGeom>
        </p:spPr>
        <p:txBody>
          <a:bodyPr anchor="t" rtlCol="false" tIns="0" lIns="0" bIns="0" rIns="0">
            <a:spAutoFit/>
          </a:bodyPr>
          <a:lstStyle/>
          <a:p>
            <a:pPr algn="l">
              <a:lnSpc>
                <a:spcPts val="5200"/>
              </a:lnSpc>
            </a:pPr>
            <a:r>
              <a:rPr lang="en-US" sz="3041" spc="33" b="true">
                <a:solidFill>
                  <a:srgbClr val="FFFFFF"/>
                </a:solidFill>
                <a:latin typeface="Neo Tech Bold"/>
                <a:ea typeface="Neo Tech Bold"/>
                <a:cs typeface="Neo Tech Bold"/>
                <a:sym typeface="Neo Tech Bold"/>
              </a:rPr>
              <a:t>Insight Baru :</a:t>
            </a:r>
          </a:p>
        </p:txBody>
      </p:sp>
      <p:sp>
        <p:nvSpPr>
          <p:cNvPr name="TextBox 24" id="24"/>
          <p:cNvSpPr txBox="true"/>
          <p:nvPr/>
        </p:nvSpPr>
        <p:spPr>
          <a:xfrm rot="0">
            <a:off x="1873313" y="7326688"/>
            <a:ext cx="14386512" cy="962406"/>
          </a:xfrm>
          <a:prstGeom prst="rect">
            <a:avLst/>
          </a:prstGeom>
        </p:spPr>
        <p:txBody>
          <a:bodyPr anchor="t" rtlCol="false" tIns="0" lIns="0" bIns="0" rIns="0">
            <a:spAutoFit/>
          </a:bodyPr>
          <a:lstStyle/>
          <a:p>
            <a:pPr algn="l">
              <a:lnSpc>
                <a:spcPts val="3761"/>
              </a:lnSpc>
            </a:pPr>
            <a:r>
              <a:rPr lang="en-US" sz="2199" spc="24">
                <a:solidFill>
                  <a:srgbClr val="FFFFFF"/>
                </a:solidFill>
                <a:latin typeface="Neo Tech"/>
                <a:ea typeface="Neo Tech"/>
                <a:cs typeface="Neo Tech"/>
                <a:sym typeface="Neo Tech"/>
              </a:rPr>
              <a:t>Solusi Performa lewat Queue System: Menemukan bahwa fungsi pencatatan log yang membebani server bisa diselesaikan dengan sangat instan lewat perintah LogSiswaBaru::dispatch(), membuat web tetap ringan.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490161" y="859620"/>
            <a:ext cx="16410284" cy="8229600"/>
            <a:chOff x="0" y="0"/>
            <a:chExt cx="4322050" cy="2167467"/>
          </a:xfrm>
        </p:grpSpPr>
        <p:sp>
          <p:nvSpPr>
            <p:cNvPr name="Freeform 14" id="14"/>
            <p:cNvSpPr/>
            <p:nvPr/>
          </p:nvSpPr>
          <p:spPr>
            <a:xfrm flipH="false" flipV="false" rot="0">
              <a:off x="0" y="0"/>
              <a:ext cx="4322050" cy="2167467"/>
            </a:xfrm>
            <a:custGeom>
              <a:avLst/>
              <a:gdLst/>
              <a:ahLst/>
              <a:cxnLst/>
              <a:rect r="r" b="b" t="t" l="l"/>
              <a:pathLst>
                <a:path h="2167467" w="4322050">
                  <a:moveTo>
                    <a:pt x="14153" y="0"/>
                  </a:moveTo>
                  <a:lnTo>
                    <a:pt x="4307897" y="0"/>
                  </a:lnTo>
                  <a:cubicBezTo>
                    <a:pt x="4315714" y="0"/>
                    <a:pt x="4322050" y="6337"/>
                    <a:pt x="4322050" y="14153"/>
                  </a:cubicBezTo>
                  <a:lnTo>
                    <a:pt x="4322050" y="2153314"/>
                  </a:lnTo>
                  <a:cubicBezTo>
                    <a:pt x="4322050" y="2161130"/>
                    <a:pt x="4315714" y="2167467"/>
                    <a:pt x="4307897" y="2167467"/>
                  </a:cubicBezTo>
                  <a:lnTo>
                    <a:pt x="14153" y="2167467"/>
                  </a:lnTo>
                  <a:cubicBezTo>
                    <a:pt x="10400" y="2167467"/>
                    <a:pt x="6800" y="2165976"/>
                    <a:pt x="4145" y="2163321"/>
                  </a:cubicBezTo>
                  <a:cubicBezTo>
                    <a:pt x="1491" y="2160667"/>
                    <a:pt x="0" y="2157067"/>
                    <a:pt x="0" y="2153314"/>
                  </a:cubicBezTo>
                  <a:lnTo>
                    <a:pt x="0" y="14153"/>
                  </a:lnTo>
                  <a:cubicBezTo>
                    <a:pt x="0" y="10400"/>
                    <a:pt x="1491" y="6800"/>
                    <a:pt x="4145" y="4145"/>
                  </a:cubicBezTo>
                  <a:cubicBezTo>
                    <a:pt x="6800" y="1491"/>
                    <a:pt x="10400" y="0"/>
                    <a:pt x="14153" y="0"/>
                  </a:cubicBezTo>
                  <a:close/>
                </a:path>
              </a:pathLst>
            </a:custGeom>
            <a:ln w="85725" cap="rnd">
              <a:solidFill>
                <a:srgbClr val="1EF1FF"/>
              </a:solidFill>
              <a:prstDash val="solid"/>
              <a:round/>
            </a:ln>
          </p:spPr>
        </p:sp>
        <p:sp>
          <p:nvSpPr>
            <p:cNvPr name="TextBox 15" id="15"/>
            <p:cNvSpPr txBox="true"/>
            <p:nvPr/>
          </p:nvSpPr>
          <p:spPr>
            <a:xfrm>
              <a:off x="0" y="-38100"/>
              <a:ext cx="4322050"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6466495" y="1838597"/>
            <a:ext cx="5477149" cy="1034201"/>
          </a:xfrm>
          <a:prstGeom prst="rect">
            <a:avLst/>
          </a:prstGeom>
        </p:spPr>
        <p:txBody>
          <a:bodyPr anchor="t" rtlCol="false" tIns="0" lIns="0" bIns="0" rIns="0">
            <a:spAutoFit/>
          </a:bodyPr>
          <a:lstStyle/>
          <a:p>
            <a:pPr algn="ctr">
              <a:lnSpc>
                <a:spcPts val="7394"/>
              </a:lnSpc>
            </a:pPr>
            <a:r>
              <a:rPr lang="en-US" b="true" sz="5776">
                <a:solidFill>
                  <a:srgbClr val="90F8FF"/>
                </a:solidFill>
                <a:latin typeface="Neo Tech Bold"/>
                <a:ea typeface="Neo Tech Bold"/>
                <a:cs typeface="Neo Tech Bold"/>
                <a:sym typeface="Neo Tech Bold"/>
              </a:rPr>
              <a:t>DOKUMENTASI </a:t>
            </a:r>
          </a:p>
        </p:txBody>
      </p:sp>
      <p:sp>
        <p:nvSpPr>
          <p:cNvPr name="TextBox 19" id="19"/>
          <p:cNvSpPr txBox="true"/>
          <p:nvPr/>
        </p:nvSpPr>
        <p:spPr>
          <a:xfrm rot="0">
            <a:off x="1028700" y="3311229"/>
            <a:ext cx="8086528" cy="2050601"/>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Apa fungsi Laravel Boost?</a:t>
            </a:r>
          </a:p>
          <a:p>
            <a:pPr algn="ctr">
              <a:lnSpc>
                <a:spcPts val="3441"/>
              </a:lnSpc>
            </a:pPr>
          </a:p>
          <a:p>
            <a:pPr algn="ctr">
              <a:lnSpc>
                <a:spcPts val="3072"/>
              </a:lnSpc>
            </a:pPr>
            <a:r>
              <a:rPr lang="en-US" sz="2400" spc="-69">
                <a:solidFill>
                  <a:srgbClr val="FFFFFF"/>
                </a:solidFill>
                <a:latin typeface="Neo Tech"/>
                <a:ea typeface="Neo Tech"/>
                <a:cs typeface="Neo Tech"/>
                <a:sym typeface="Neo Tech"/>
              </a:rPr>
              <a:t>P</a:t>
            </a:r>
            <a:r>
              <a:rPr lang="en-US" sz="2400" spc="-69">
                <a:solidFill>
                  <a:srgbClr val="FFFFFF"/>
                </a:solidFill>
                <a:latin typeface="Neo Tech"/>
                <a:ea typeface="Neo Tech"/>
                <a:cs typeface="Neo Tech"/>
                <a:sym typeface="Neo Tech"/>
              </a:rPr>
              <a:t>ackage atau alat pengembang resmi yang dibuat oleh tim Laravel untuk menghubungkan proyek kode lokal dengan asisten AI secara mendalam.</a:t>
            </a:r>
          </a:p>
        </p:txBody>
      </p:sp>
      <p:grpSp>
        <p:nvGrpSpPr>
          <p:cNvPr name="Group 20" id="20"/>
          <p:cNvGrpSpPr/>
          <p:nvPr/>
        </p:nvGrpSpPr>
        <p:grpSpPr>
          <a:xfrm rot="0">
            <a:off x="1164633" y="3135518"/>
            <a:ext cx="7742335" cy="2308864"/>
            <a:chOff x="0" y="0"/>
            <a:chExt cx="2039133" cy="608096"/>
          </a:xfrm>
        </p:grpSpPr>
        <p:sp>
          <p:nvSpPr>
            <p:cNvPr name="Freeform 21" id="21"/>
            <p:cNvSpPr/>
            <p:nvPr/>
          </p:nvSpPr>
          <p:spPr>
            <a:xfrm flipH="false" flipV="false" rot="0">
              <a:off x="0" y="0"/>
              <a:ext cx="2039133" cy="608096"/>
            </a:xfrm>
            <a:custGeom>
              <a:avLst/>
              <a:gdLst/>
              <a:ahLst/>
              <a:cxnLst/>
              <a:rect r="r" b="b" t="t" l="l"/>
              <a:pathLst>
                <a:path h="608096" w="2039133">
                  <a:moveTo>
                    <a:pt x="29998" y="0"/>
                  </a:moveTo>
                  <a:lnTo>
                    <a:pt x="2009135" y="0"/>
                  </a:lnTo>
                  <a:cubicBezTo>
                    <a:pt x="2025703" y="0"/>
                    <a:pt x="2039133" y="13431"/>
                    <a:pt x="2039133" y="29998"/>
                  </a:cubicBezTo>
                  <a:lnTo>
                    <a:pt x="2039133" y="578097"/>
                  </a:lnTo>
                  <a:cubicBezTo>
                    <a:pt x="2039133" y="586054"/>
                    <a:pt x="2035973" y="593684"/>
                    <a:pt x="2030347" y="599310"/>
                  </a:cubicBezTo>
                  <a:cubicBezTo>
                    <a:pt x="2024721" y="604935"/>
                    <a:pt x="2017091" y="608096"/>
                    <a:pt x="2009135" y="608096"/>
                  </a:cubicBezTo>
                  <a:lnTo>
                    <a:pt x="29998" y="608096"/>
                  </a:lnTo>
                  <a:cubicBezTo>
                    <a:pt x="22042" y="608096"/>
                    <a:pt x="14412" y="604935"/>
                    <a:pt x="8786" y="599310"/>
                  </a:cubicBezTo>
                  <a:cubicBezTo>
                    <a:pt x="3161" y="593684"/>
                    <a:pt x="0" y="586054"/>
                    <a:pt x="0" y="578097"/>
                  </a:cubicBezTo>
                  <a:lnTo>
                    <a:pt x="0" y="29998"/>
                  </a:lnTo>
                  <a:cubicBezTo>
                    <a:pt x="0" y="22042"/>
                    <a:pt x="3161" y="14412"/>
                    <a:pt x="8786" y="8786"/>
                  </a:cubicBezTo>
                  <a:cubicBezTo>
                    <a:pt x="14412" y="3161"/>
                    <a:pt x="22042" y="0"/>
                    <a:pt x="29998" y="0"/>
                  </a:cubicBezTo>
                  <a:close/>
                </a:path>
              </a:pathLst>
            </a:custGeom>
            <a:ln w="85725" cap="rnd">
              <a:solidFill>
                <a:srgbClr val="1EF1FF"/>
              </a:solidFill>
              <a:prstDash val="solid"/>
              <a:round/>
            </a:ln>
          </p:spPr>
        </p:sp>
        <p:sp>
          <p:nvSpPr>
            <p:cNvPr name="TextBox 22" id="22"/>
            <p:cNvSpPr txBox="true"/>
            <p:nvPr/>
          </p:nvSpPr>
          <p:spPr>
            <a:xfrm>
              <a:off x="0" y="-38100"/>
              <a:ext cx="2039133" cy="646196"/>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9205070" y="3311229"/>
            <a:ext cx="8086528" cy="2050601"/>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Apa itu AI-assisted development? </a:t>
            </a:r>
          </a:p>
          <a:p>
            <a:pPr algn="ctr">
              <a:lnSpc>
                <a:spcPts val="3441"/>
              </a:lnSpc>
            </a:pPr>
          </a:p>
          <a:p>
            <a:pPr algn="ctr">
              <a:lnSpc>
                <a:spcPts val="3072"/>
              </a:lnSpc>
            </a:pPr>
            <a:r>
              <a:rPr lang="en-US" sz="2400" spc="-69">
                <a:solidFill>
                  <a:srgbClr val="FFFFFF"/>
                </a:solidFill>
                <a:latin typeface="Neo Tech"/>
                <a:ea typeface="Neo Tech"/>
                <a:cs typeface="Neo Tech"/>
                <a:sym typeface="Neo Tech"/>
              </a:rPr>
              <a:t>  Metode pengembangan perangkat lunak di mana </a:t>
            </a:r>
          </a:p>
          <a:p>
            <a:pPr algn="ctr">
              <a:lnSpc>
                <a:spcPts val="3072"/>
              </a:lnSpc>
            </a:pPr>
            <a:r>
              <a:rPr lang="en-US" sz="2400" spc="-69">
                <a:solidFill>
                  <a:srgbClr val="FFFFFF"/>
                </a:solidFill>
                <a:latin typeface="Neo Tech"/>
                <a:ea typeface="Neo Tech"/>
                <a:cs typeface="Neo Tech"/>
                <a:sym typeface="Neo Tech"/>
              </a:rPr>
              <a:t>programmer  menggunakan kecerdasan buatan (AI) sebagai asisten untuk mempercepat proses pembuatan aplikasi.</a:t>
            </a:r>
          </a:p>
        </p:txBody>
      </p:sp>
      <p:grpSp>
        <p:nvGrpSpPr>
          <p:cNvPr name="Group 24" id="24"/>
          <p:cNvGrpSpPr/>
          <p:nvPr/>
        </p:nvGrpSpPr>
        <p:grpSpPr>
          <a:xfrm rot="0">
            <a:off x="9144000" y="6187023"/>
            <a:ext cx="8147597" cy="2202214"/>
            <a:chOff x="0" y="0"/>
            <a:chExt cx="2145869" cy="580007"/>
          </a:xfrm>
        </p:grpSpPr>
        <p:sp>
          <p:nvSpPr>
            <p:cNvPr name="Freeform 25" id="25"/>
            <p:cNvSpPr/>
            <p:nvPr/>
          </p:nvSpPr>
          <p:spPr>
            <a:xfrm flipH="false" flipV="false" rot="0">
              <a:off x="0" y="0"/>
              <a:ext cx="2145869" cy="580007"/>
            </a:xfrm>
            <a:custGeom>
              <a:avLst/>
              <a:gdLst/>
              <a:ahLst/>
              <a:cxnLst/>
              <a:rect r="r" b="b" t="t" l="l"/>
              <a:pathLst>
                <a:path h="580007" w="2145869">
                  <a:moveTo>
                    <a:pt x="28506" y="0"/>
                  </a:moveTo>
                  <a:lnTo>
                    <a:pt x="2117363" y="0"/>
                  </a:lnTo>
                  <a:cubicBezTo>
                    <a:pt x="2124923" y="0"/>
                    <a:pt x="2132174" y="3003"/>
                    <a:pt x="2137520" y="8349"/>
                  </a:cubicBezTo>
                  <a:cubicBezTo>
                    <a:pt x="2142866" y="13695"/>
                    <a:pt x="2145869" y="20946"/>
                    <a:pt x="2145869" y="28506"/>
                  </a:cubicBezTo>
                  <a:lnTo>
                    <a:pt x="2145869" y="551501"/>
                  </a:lnTo>
                  <a:cubicBezTo>
                    <a:pt x="2145869" y="559061"/>
                    <a:pt x="2142866" y="566312"/>
                    <a:pt x="2137520" y="571658"/>
                  </a:cubicBezTo>
                  <a:cubicBezTo>
                    <a:pt x="2132174" y="577004"/>
                    <a:pt x="2124923" y="580007"/>
                    <a:pt x="2117363" y="580007"/>
                  </a:cubicBezTo>
                  <a:lnTo>
                    <a:pt x="28506" y="580007"/>
                  </a:lnTo>
                  <a:cubicBezTo>
                    <a:pt x="20946" y="580007"/>
                    <a:pt x="13695" y="577004"/>
                    <a:pt x="8349" y="571658"/>
                  </a:cubicBezTo>
                  <a:cubicBezTo>
                    <a:pt x="3003" y="566312"/>
                    <a:pt x="0" y="559061"/>
                    <a:pt x="0" y="551501"/>
                  </a:cubicBezTo>
                  <a:lnTo>
                    <a:pt x="0" y="28506"/>
                  </a:lnTo>
                  <a:cubicBezTo>
                    <a:pt x="0" y="20946"/>
                    <a:pt x="3003" y="13695"/>
                    <a:pt x="8349" y="8349"/>
                  </a:cubicBezTo>
                  <a:cubicBezTo>
                    <a:pt x="13695" y="3003"/>
                    <a:pt x="20946" y="0"/>
                    <a:pt x="28506" y="0"/>
                  </a:cubicBezTo>
                  <a:close/>
                </a:path>
              </a:pathLst>
            </a:custGeom>
            <a:ln w="85725" cap="rnd">
              <a:solidFill>
                <a:srgbClr val="1EF1FF"/>
              </a:solidFill>
              <a:prstDash val="solid"/>
              <a:round/>
            </a:ln>
          </p:spPr>
        </p:sp>
        <p:sp>
          <p:nvSpPr>
            <p:cNvPr name="TextBox 26" id="26"/>
            <p:cNvSpPr txBox="true"/>
            <p:nvPr/>
          </p:nvSpPr>
          <p:spPr>
            <a:xfrm>
              <a:off x="0" y="-38100"/>
              <a:ext cx="2145869" cy="618107"/>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0">
            <a:off x="9144000" y="3135518"/>
            <a:ext cx="8057755" cy="2308864"/>
            <a:chOff x="0" y="0"/>
            <a:chExt cx="2122207" cy="608096"/>
          </a:xfrm>
        </p:grpSpPr>
        <p:sp>
          <p:nvSpPr>
            <p:cNvPr name="Freeform 28" id="28"/>
            <p:cNvSpPr/>
            <p:nvPr/>
          </p:nvSpPr>
          <p:spPr>
            <a:xfrm flipH="false" flipV="false" rot="0">
              <a:off x="0" y="0"/>
              <a:ext cx="2122207" cy="608096"/>
            </a:xfrm>
            <a:custGeom>
              <a:avLst/>
              <a:gdLst/>
              <a:ahLst/>
              <a:cxnLst/>
              <a:rect r="r" b="b" t="t" l="l"/>
              <a:pathLst>
                <a:path h="608096" w="2122207">
                  <a:moveTo>
                    <a:pt x="28824" y="0"/>
                  </a:moveTo>
                  <a:lnTo>
                    <a:pt x="2093383" y="0"/>
                  </a:lnTo>
                  <a:cubicBezTo>
                    <a:pt x="2109302" y="0"/>
                    <a:pt x="2122207" y="12905"/>
                    <a:pt x="2122207" y="28824"/>
                  </a:cubicBezTo>
                  <a:lnTo>
                    <a:pt x="2122207" y="579272"/>
                  </a:lnTo>
                  <a:cubicBezTo>
                    <a:pt x="2122207" y="595191"/>
                    <a:pt x="2109302" y="608096"/>
                    <a:pt x="2093383" y="608096"/>
                  </a:cubicBezTo>
                  <a:lnTo>
                    <a:pt x="28824" y="608096"/>
                  </a:lnTo>
                  <a:cubicBezTo>
                    <a:pt x="12905" y="608096"/>
                    <a:pt x="0" y="595191"/>
                    <a:pt x="0" y="579272"/>
                  </a:cubicBezTo>
                  <a:lnTo>
                    <a:pt x="0" y="28824"/>
                  </a:lnTo>
                  <a:cubicBezTo>
                    <a:pt x="0" y="12905"/>
                    <a:pt x="12905" y="0"/>
                    <a:pt x="28824" y="0"/>
                  </a:cubicBezTo>
                  <a:close/>
                </a:path>
              </a:pathLst>
            </a:custGeom>
            <a:ln w="85725" cap="rnd">
              <a:solidFill>
                <a:srgbClr val="1EF1FF"/>
              </a:solidFill>
              <a:prstDash val="solid"/>
              <a:round/>
            </a:ln>
          </p:spPr>
        </p:sp>
        <p:sp>
          <p:nvSpPr>
            <p:cNvPr name="TextBox 29" id="29"/>
            <p:cNvSpPr txBox="true"/>
            <p:nvPr/>
          </p:nvSpPr>
          <p:spPr>
            <a:xfrm>
              <a:off x="0" y="-38100"/>
              <a:ext cx="2122207" cy="646196"/>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1200796" y="6187023"/>
            <a:ext cx="7742335" cy="2141632"/>
            <a:chOff x="0" y="0"/>
            <a:chExt cx="2039133" cy="564051"/>
          </a:xfrm>
        </p:grpSpPr>
        <p:sp>
          <p:nvSpPr>
            <p:cNvPr name="Freeform 31" id="31"/>
            <p:cNvSpPr/>
            <p:nvPr/>
          </p:nvSpPr>
          <p:spPr>
            <a:xfrm flipH="false" flipV="false" rot="0">
              <a:off x="0" y="0"/>
              <a:ext cx="2039133" cy="564051"/>
            </a:xfrm>
            <a:custGeom>
              <a:avLst/>
              <a:gdLst/>
              <a:ahLst/>
              <a:cxnLst/>
              <a:rect r="r" b="b" t="t" l="l"/>
              <a:pathLst>
                <a:path h="564051" w="2039133">
                  <a:moveTo>
                    <a:pt x="29998" y="0"/>
                  </a:moveTo>
                  <a:lnTo>
                    <a:pt x="2009135" y="0"/>
                  </a:lnTo>
                  <a:cubicBezTo>
                    <a:pt x="2025703" y="0"/>
                    <a:pt x="2039133" y="13431"/>
                    <a:pt x="2039133" y="29998"/>
                  </a:cubicBezTo>
                  <a:lnTo>
                    <a:pt x="2039133" y="534053"/>
                  </a:lnTo>
                  <a:cubicBezTo>
                    <a:pt x="2039133" y="542009"/>
                    <a:pt x="2035973" y="549639"/>
                    <a:pt x="2030347" y="555265"/>
                  </a:cubicBezTo>
                  <a:cubicBezTo>
                    <a:pt x="2024721" y="560891"/>
                    <a:pt x="2017091" y="564051"/>
                    <a:pt x="2009135" y="564051"/>
                  </a:cubicBezTo>
                  <a:lnTo>
                    <a:pt x="29998" y="564051"/>
                  </a:lnTo>
                  <a:cubicBezTo>
                    <a:pt x="22042" y="564051"/>
                    <a:pt x="14412" y="560891"/>
                    <a:pt x="8786" y="555265"/>
                  </a:cubicBezTo>
                  <a:cubicBezTo>
                    <a:pt x="3161" y="549639"/>
                    <a:pt x="0" y="542009"/>
                    <a:pt x="0" y="534053"/>
                  </a:cubicBezTo>
                  <a:lnTo>
                    <a:pt x="0" y="29998"/>
                  </a:lnTo>
                  <a:cubicBezTo>
                    <a:pt x="0" y="22042"/>
                    <a:pt x="3161" y="14412"/>
                    <a:pt x="8786" y="8786"/>
                  </a:cubicBezTo>
                  <a:cubicBezTo>
                    <a:pt x="14412" y="3161"/>
                    <a:pt x="22042" y="0"/>
                    <a:pt x="29998" y="0"/>
                  </a:cubicBezTo>
                  <a:close/>
                </a:path>
              </a:pathLst>
            </a:custGeom>
            <a:ln w="85725" cap="rnd">
              <a:solidFill>
                <a:srgbClr val="1EF1FF"/>
              </a:solidFill>
              <a:prstDash val="solid"/>
              <a:round/>
            </a:ln>
          </p:spPr>
        </p:sp>
        <p:sp>
          <p:nvSpPr>
            <p:cNvPr name="TextBox 32" id="32"/>
            <p:cNvSpPr txBox="true"/>
            <p:nvPr/>
          </p:nvSpPr>
          <p:spPr>
            <a:xfrm>
              <a:off x="0" y="-38100"/>
              <a:ext cx="2039133" cy="602151"/>
            </a:xfrm>
            <a:prstGeom prst="rect">
              <a:avLst/>
            </a:prstGeom>
          </p:spPr>
          <p:txBody>
            <a:bodyPr anchor="ctr" rtlCol="false" tIns="50800" lIns="50800" bIns="50800" rIns="50800"/>
            <a:lstStyle/>
            <a:p>
              <a:pPr algn="ctr">
                <a:lnSpc>
                  <a:spcPts val="2659"/>
                </a:lnSpc>
                <a:spcBef>
                  <a:spcPct val="0"/>
                </a:spcBef>
              </a:pPr>
            </a:p>
          </p:txBody>
        </p:sp>
      </p:grpSp>
      <p:sp>
        <p:nvSpPr>
          <p:cNvPr name="TextBox 33" id="33"/>
          <p:cNvSpPr txBox="true"/>
          <p:nvPr/>
        </p:nvSpPr>
        <p:spPr>
          <a:xfrm rot="0">
            <a:off x="1118542" y="6301323"/>
            <a:ext cx="7834517" cy="1669601"/>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Apa keuntungan AI dalam development?</a:t>
            </a:r>
          </a:p>
          <a:p>
            <a:pPr algn="ctr">
              <a:lnSpc>
                <a:spcPts val="3441"/>
              </a:lnSpc>
            </a:pPr>
          </a:p>
          <a:p>
            <a:pPr algn="ctr">
              <a:lnSpc>
                <a:spcPts val="3072"/>
              </a:lnSpc>
            </a:pPr>
            <a:r>
              <a:rPr lang="en-US" sz="2400" spc="-69">
                <a:solidFill>
                  <a:srgbClr val="FFFFFF"/>
                </a:solidFill>
                <a:latin typeface="Neo Tech"/>
                <a:ea typeface="Neo Tech"/>
                <a:cs typeface="Neo Tech"/>
                <a:sym typeface="Neo Tech"/>
              </a:rPr>
              <a:t>   M</a:t>
            </a:r>
            <a:r>
              <a:rPr lang="en-US" sz="2400" spc="-69">
                <a:solidFill>
                  <a:srgbClr val="FFFFFF"/>
                </a:solidFill>
                <a:latin typeface="Neo Tech"/>
                <a:ea typeface="Neo Tech"/>
                <a:cs typeface="Neo Tech"/>
                <a:sym typeface="Neo Tech"/>
              </a:rPr>
              <a:t>enulis struktur kode standar dan fungsi fungsi umum dalam hitungan detik.</a:t>
            </a:r>
          </a:p>
        </p:txBody>
      </p:sp>
      <p:sp>
        <p:nvSpPr>
          <p:cNvPr name="TextBox 34" id="34"/>
          <p:cNvSpPr txBox="true"/>
          <p:nvPr/>
        </p:nvSpPr>
        <p:spPr>
          <a:xfrm rot="0">
            <a:off x="9144000" y="6338636"/>
            <a:ext cx="8057755" cy="2050601"/>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Apa kekurangan AI?</a:t>
            </a:r>
          </a:p>
          <a:p>
            <a:pPr algn="ctr">
              <a:lnSpc>
                <a:spcPts val="3441"/>
              </a:lnSpc>
            </a:pPr>
          </a:p>
          <a:p>
            <a:pPr algn="ctr">
              <a:lnSpc>
                <a:spcPts val="3072"/>
              </a:lnSpc>
            </a:pPr>
            <a:r>
              <a:rPr lang="en-US" sz="2400" spc="-69">
                <a:solidFill>
                  <a:srgbClr val="FFFFFF"/>
                </a:solidFill>
                <a:latin typeface="Neo Tech"/>
                <a:ea typeface="Neo Tech"/>
                <a:cs typeface="Neo Tech"/>
                <a:sym typeface="Neo Tech"/>
              </a:rPr>
              <a:t>AI sering kali menghasilkan kode yang tampak benar, tetapi ternyata menggunakan fungsi (method) fiktif atau pustaka </a:t>
            </a:r>
          </a:p>
          <a:p>
            <a:pPr algn="ctr">
              <a:lnSpc>
                <a:spcPts val="3072"/>
              </a:lnSpc>
            </a:pPr>
            <a:r>
              <a:rPr lang="en-US" sz="2400" spc="-69">
                <a:solidFill>
                  <a:srgbClr val="FFFFFF"/>
                </a:solidFill>
                <a:latin typeface="Neo Tech"/>
                <a:ea typeface="Neo Tech"/>
                <a:cs typeface="Neo Tech"/>
                <a:sym typeface="Neo Tech"/>
              </a:rPr>
              <a:t>versi usang jika tidak diarahkan dengan benar.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8" id="8"/>
          <p:cNvSpPr/>
          <p:nvPr/>
        </p:nvSpPr>
        <p:spPr>
          <a:xfrm flipH="false" flipV="false" rot="0">
            <a:off x="1729946" y="1028700"/>
            <a:ext cx="14828108" cy="8229600"/>
          </a:xfrm>
          <a:custGeom>
            <a:avLst/>
            <a:gdLst/>
            <a:ahLst/>
            <a:cxnLst/>
            <a:rect r="r" b="b" t="t" l="l"/>
            <a:pathLst>
              <a:path h="8229600" w="14828108">
                <a:moveTo>
                  <a:pt x="0" y="0"/>
                </a:moveTo>
                <a:lnTo>
                  <a:pt x="14828108" y="0"/>
                </a:lnTo>
                <a:lnTo>
                  <a:pt x="148281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71355" y="7684325"/>
            <a:ext cx="3731115" cy="2957757"/>
          </a:xfrm>
          <a:custGeom>
            <a:avLst/>
            <a:gdLst/>
            <a:ahLst/>
            <a:cxnLst/>
            <a:rect r="r" b="b" t="t" l="l"/>
            <a:pathLst>
              <a:path h="2957757" w="3731115">
                <a:moveTo>
                  <a:pt x="0" y="0"/>
                </a:moveTo>
                <a:lnTo>
                  <a:pt x="3731115" y="0"/>
                </a:lnTo>
                <a:lnTo>
                  <a:pt x="3731115" y="2957757"/>
                </a:lnTo>
                <a:lnTo>
                  <a:pt x="0" y="2957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5604847" y="-832180"/>
            <a:ext cx="3396344" cy="2692375"/>
          </a:xfrm>
          <a:custGeom>
            <a:avLst/>
            <a:gdLst/>
            <a:ahLst/>
            <a:cxnLst/>
            <a:rect r="r" b="b" t="t" l="l"/>
            <a:pathLst>
              <a:path h="2692375" w="3396344">
                <a:moveTo>
                  <a:pt x="3396345" y="0"/>
                </a:moveTo>
                <a:lnTo>
                  <a:pt x="0" y="0"/>
                </a:lnTo>
                <a:lnTo>
                  <a:pt x="0" y="2692375"/>
                </a:lnTo>
                <a:lnTo>
                  <a:pt x="3396345" y="2692375"/>
                </a:lnTo>
                <a:lnTo>
                  <a:pt x="339634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1" id="11"/>
          <p:cNvSpPr/>
          <p:nvPr/>
        </p:nvSpPr>
        <p:spPr>
          <a:xfrm flipV="true">
            <a:off x="4030157" y="2618302"/>
            <a:ext cx="10227686" cy="0"/>
          </a:xfrm>
          <a:prstGeom prst="line">
            <a:avLst/>
          </a:prstGeom>
          <a:ln cap="flat" w="38100">
            <a:solidFill>
              <a:srgbClr val="FFFFFF"/>
            </a:solidFill>
            <a:prstDash val="solid"/>
            <a:headEnd type="none" len="sm" w="sm"/>
            <a:tailEnd type="none" len="sm" w="sm"/>
          </a:ln>
        </p:spPr>
      </p:sp>
      <p:sp>
        <p:nvSpPr>
          <p:cNvPr name="Freeform 12" id="12"/>
          <p:cNvSpPr/>
          <p:nvPr/>
        </p:nvSpPr>
        <p:spPr>
          <a:xfrm flipH="false" flipV="false" rot="0">
            <a:off x="3259760" y="6378821"/>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2781048" y="6378821"/>
            <a:ext cx="2242799" cy="1529181"/>
          </a:xfrm>
          <a:custGeom>
            <a:avLst/>
            <a:gdLst/>
            <a:ahLst/>
            <a:cxnLst/>
            <a:rect r="r" b="b" t="t" l="l"/>
            <a:pathLst>
              <a:path h="1529181" w="2242799">
                <a:moveTo>
                  <a:pt x="0" y="0"/>
                </a:moveTo>
                <a:lnTo>
                  <a:pt x="2242800" y="0"/>
                </a:lnTo>
                <a:lnTo>
                  <a:pt x="2242800"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5062878" y="3006667"/>
            <a:ext cx="8162244" cy="3230627"/>
          </a:xfrm>
          <a:prstGeom prst="rect">
            <a:avLst/>
          </a:prstGeom>
        </p:spPr>
        <p:txBody>
          <a:bodyPr anchor="t" rtlCol="false" tIns="0" lIns="0" bIns="0" rIns="0">
            <a:spAutoFit/>
          </a:bodyPr>
          <a:lstStyle/>
          <a:p>
            <a:pPr algn="ctr">
              <a:lnSpc>
                <a:spcPts val="12087"/>
              </a:lnSpc>
            </a:pPr>
            <a:r>
              <a:rPr lang="en-US" b="true" sz="9443">
                <a:solidFill>
                  <a:srgbClr val="1EF1FF"/>
                </a:solidFill>
                <a:latin typeface="Neo Tech Bold"/>
                <a:ea typeface="Neo Tech Bold"/>
                <a:cs typeface="Neo Tech Bold"/>
                <a:sym typeface="Neo Tech Bold"/>
              </a:rPr>
              <a:t>SEKIAN</a:t>
            </a:r>
          </a:p>
          <a:p>
            <a:pPr algn="ctr">
              <a:lnSpc>
                <a:spcPts val="12087"/>
              </a:lnSpc>
            </a:pPr>
            <a:r>
              <a:rPr lang="en-US" b="true" sz="9443">
                <a:solidFill>
                  <a:srgbClr val="1EF1FF"/>
                </a:solidFill>
                <a:latin typeface="Neo Tech Bold"/>
                <a:ea typeface="Neo Tech Bold"/>
                <a:cs typeface="Neo Tech Bold"/>
                <a:sym typeface="Neo Tech Bold"/>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DAHKFi36ihw</dc:identifier>
  <dcterms:modified xsi:type="dcterms:W3CDTF">2011-08-01T06:04:30Z</dcterms:modified>
  <cp:revision>1</cp:revision>
  <dc:title>Biru Dongker Modern Strategi Inovasi Bisnis dalam Menghadapi Disrupsi Teknologi Presentasi</dc:title>
</cp:coreProperties>
</file>